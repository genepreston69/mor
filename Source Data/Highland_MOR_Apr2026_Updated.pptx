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comments/modernComment_7FFE5DD5_2D75F68B.xml" ContentType="application/vnd.ms-powerpoint.comment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9.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0.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1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4"/>
  </p:sldMasterIdLst>
  <p:notesMasterIdLst>
    <p:notesMasterId r:id="rId23"/>
  </p:notesMasterIdLst>
  <p:sldIdLst>
    <p:sldId id="2147376592" r:id="rId5"/>
    <p:sldId id="2147376644" r:id="rId6"/>
    <p:sldId id="2147376647" r:id="rId7"/>
    <p:sldId id="2147376648" r:id="rId8"/>
    <p:sldId id="2147376650" r:id="rId9"/>
    <p:sldId id="2147376597" r:id="rId10"/>
    <p:sldId id="2147376602" r:id="rId11"/>
    <p:sldId id="2147376632" r:id="rId12"/>
    <p:sldId id="2147376639" r:id="rId13"/>
    <p:sldId id="2147376607" r:id="rId14"/>
    <p:sldId id="2147376633" r:id="rId15"/>
    <p:sldId id="2147376613" r:id="rId16"/>
    <p:sldId id="2147376634" r:id="rId17"/>
    <p:sldId id="2147376618" r:id="rId18"/>
    <p:sldId id="2147376655" r:id="rId19"/>
    <p:sldId id="2147376656" r:id="rId20"/>
    <p:sldId id="2147376657" r:id="rId21"/>
    <p:sldId id="2147376658" r:id="rId22"/>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9913557-6A70-4C63-8685-D77D8AB1B23B}">
          <p14:sldIdLst>
            <p14:sldId id="2147376592"/>
            <p14:sldId id="2147376644"/>
            <p14:sldId id="2147376647"/>
            <p14:sldId id="2147376648"/>
            <p14:sldId id="2147376650"/>
            <p14:sldId id="2147376597"/>
            <p14:sldId id="2147376602"/>
            <p14:sldId id="2147376632"/>
            <p14:sldId id="2147376639"/>
            <p14:sldId id="2147376607"/>
            <p14:sldId id="2147376633"/>
            <p14:sldId id="2147376613"/>
            <p14:sldId id="2147376634"/>
            <p14:sldId id="2147376618"/>
            <p14:sldId id="2147376655"/>
            <p14:sldId id="2147376656"/>
            <p14:sldId id="2147376657"/>
            <p14:sldId id="214737665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D55B0E-95CD-5A09-EA01-57ECE8E8280D}" name="Lori Carney" initials="LC" userId="S::lori.carney@highlandhosp.com::6632d848-af25-495d-9ab5-784c74bc5918" providerId="AD"/>
  <p188:author id="{E75C290F-11FB-AD3D-21FA-9B749882EC30}" name="Chad Clagg" initials="CC" userId="S::chad.clagg@highlandhosp.com::683acc33-db99-43be-a561-79e15bfb2b3a" providerId="AD"/>
  <p188:author id="{F7F39A31-2963-DDB9-9643-A70D670FF3F8}" name="Gene Preston" initials="GP" userId="S::gene.preston@summitbhc.com::8882f240-d8a5-4bae-bb87-ad77b1072d14" providerId="AD"/>
  <p188:author id="{30B42937-038E-26D3-8142-09D3F9605823}" name="Jennifer Gilkey" initials="JG" userId="S::Jennifer.Gilkey@summitbhc.com::6e709749-4bed-4acf-943c-fb55af68e670" providerId="AD"/>
  <p188:author id="{B532AC38-C43A-0765-1366-C70A64C202A7}" name="Matt Stanford" initials="MS" userId="S::matt.stanford@summitbhc.com::970044b2-0227-4622-8c8c-707e365838bc" providerId="AD"/>
  <p188:author id="{2985273B-2745-18D7-1606-C77CFEF3F94D}" name="Jason Indestad" initials="" userId="S::jason.indestad@summitbhc.com::20e4cf2f-d5a2-4243-a13e-3dd63c4d5922" providerId="AD"/>
  <p188:author id="{950DF23C-2F11-C63F-3463-47125ACBC2C3}" name="Todd Wyatt" initials="TW" userId="S::todd.wyatt@summitbhc.com::994baf80-f55a-4a86-af66-9c13a97bb406" providerId="AD"/>
  <p188:author id="{2FA3996E-3DE4-93D7-26E1-3698EB9DCA97}" name="Mary Jarrett" initials="" userId="S::mary.jarrett@highlandhosp.com::db0f3ff5-ee1c-4606-b36b-cd28b85cf0df" providerId="AD"/>
  <p188:author id="{4378B76E-4DC1-B8AD-BC37-2EB9EFE8851D}" name="Gene Preston" initials="GP" userId="S::Gene.Preston@summitbhc.com::8882f240-d8a5-4bae-bb87-ad77b1072d14" providerId="AD"/>
  <p188:author id="{2C766F71-8910-61BD-B784-D8BB596ACF47}" name="Cameron Popham" initials="CP" userId="S::cameron.popham@summitbhc.com::e7dab3d1-2fef-41d9-a587-4102dd70e53a" providerId="AD"/>
  <p188:author id="{4F800580-74A4-B85D-FBA4-78C383F9E542}" name="Todd Wyatt" initials="TW" userId="S::Todd.Wyatt@summitbhc.com::994baf80-f55a-4a86-af66-9c13a97bb406" providerId="AD"/>
  <p188:author id="{106A62AB-3085-D94C-40AF-F3A0794FD5A6}" name="Lori Carney" initials="" userId="S::Lori.Carney@highlandhosp.com::6632d848-af25-495d-9ab5-784c74bc5918" providerId="AD"/>
  <p188:author id="{5CC0E4AC-5857-5D0C-6706-9817421F477C}" name="Nick Kilgore" initials="" userId="S::Nick.Kilgore@highlandhosp.com::f52a2dbe-6c83-47c8-9ea4-fa2ab0f1337b" providerId="AD"/>
  <p188:author id="{C7AB65C2-3249-61C5-B663-18DEF27A3B0A}" name="Cameron Popham" initials="" userId="S::Cameron.Popham@summitbhc.com::e7dab3d1-2fef-41d9-a587-4102dd70e53a" providerId="AD"/>
  <p188:author id="{07F867FF-9088-33A3-7B20-5A02470E5C4C}" name="Patrick Burrows" initials="PB" userId="S::Patrick.Burrows@summitbhc.com::3e2cca0e-45a6-4b90-aa40-bdcb03ee34b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a:srgbClr val="FDF4D3"/>
    <a:srgbClr val="002060"/>
    <a:srgbClr val="3CC5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67F74-28D3-524E-EFEC-DE10E583DE94}" v="317" dt="2026-05-12T16:12:13.795"/>
    <p1510:client id="{42363BDC-EBF2-4E51-9293-8FDADE69AE54}" v="1286" dt="2026-05-18T20:19:55.877"/>
    <p1510:client id="{621518AB-27CA-569D-841F-6F53018BB6F6}" v="1" dt="2026-05-12T13:22:19.707"/>
    <p1510:client id="{7E9B77C8-FA1C-448E-A0F2-96754990B19B}" v="2" dt="2026-05-12T13:31:43.129"/>
    <p1510:client id="{9A2491C6-F5CD-A005-44D3-DD3BEC55D2ED}" v="24" dt="2026-05-12T14:16:07.098"/>
    <p1510:client id="{B88350D9-6581-2EA6-5D2B-775848174F89}" v="6" dt="2026-05-12T17:25:00.823"/>
    <p1510:client id="{BB6BDCA3-781C-A2EB-806F-53E4FCB4E619}" v="1" dt="2026-05-13T21:42:18.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114"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omments/modernComment_7FFE5DD5_2D75F68B.xml><?xml version="1.0" encoding="utf-8"?>
<p188:cmLst xmlns:a="http://schemas.openxmlformats.org/drawingml/2006/main" xmlns:r="http://schemas.openxmlformats.org/officeDocument/2006/relationships" xmlns:p188="http://schemas.microsoft.com/office/powerpoint/2018/8/main">
  <p188:cm id="{04D5C0A7-85B1-4161-8BD6-E55E21DA7C99}" authorId="{F7F39A31-2963-DDB9-9643-A70D670FF3F8}" created="2026-04-09T13:00:08.446">
    <pc:sldMkLst xmlns:pc="http://schemas.microsoft.com/office/powerpoint/2013/main/command">
      <pc:docMk/>
      <pc:sldMk cId="762705547" sldId="2147376597"/>
    </pc:sldMkLst>
    <p188:replyLst>
      <p188:reply id="{6B595DE0-2228-4A7B-83A7-270D30613FC3}" authorId="{5CC0E4AC-5857-5D0C-6706-9817421F477C}" created="2026-04-09T16:45:50.250">
        <p188:txBody>
          <a:bodyPr/>
          <a:lstStyle/>
          <a:p>
            <a:r>
              <a:rPr lang="en-US"/>
              <a:t>Updated as of current, but will change drastically. I will update it again once we are fully closed.</a:t>
            </a:r>
          </a:p>
        </p188:txBody>
      </p188:reply>
    </p188:replyLst>
    <p188:txBody>
      <a:bodyPr/>
      <a:lstStyle/>
      <a:p>
        <a:r>
          <a:rPr lang="en-US"/>
          <a:t>Nick can you update this slide?  [@Nick Kilgore]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39" tIns="46571" rIns="93139" bIns="46571" rtlCol="0"/>
          <a:lstStyle>
            <a:lvl1pPr algn="l">
              <a:defRPr sz="1200"/>
            </a:lvl1pPr>
          </a:lstStyle>
          <a:p>
            <a:endParaRPr lang="en-US"/>
          </a:p>
        </p:txBody>
      </p:sp>
      <p:sp>
        <p:nvSpPr>
          <p:cNvPr id="3" name="Date Placeholder 2"/>
          <p:cNvSpPr>
            <a:spLocks noGrp="1"/>
          </p:cNvSpPr>
          <p:nvPr>
            <p:ph type="dt" idx="1"/>
          </p:nvPr>
        </p:nvSpPr>
        <p:spPr>
          <a:xfrm>
            <a:off x="3970939" y="1"/>
            <a:ext cx="3037840" cy="466434"/>
          </a:xfrm>
          <a:prstGeom prst="rect">
            <a:avLst/>
          </a:prstGeom>
        </p:spPr>
        <p:txBody>
          <a:bodyPr vert="horz" lIns="93139" tIns="46571" rIns="93139" bIns="46571" rtlCol="0"/>
          <a:lstStyle>
            <a:lvl1pPr algn="r">
              <a:defRPr sz="1200"/>
            </a:lvl1pPr>
          </a:lstStyle>
          <a:p>
            <a:fld id="{2A37920F-92E8-430C-B693-9BA1F6AFE780}" type="datetimeFigureOut">
              <a:rPr lang="en-US" smtClean="0"/>
              <a:t>5/18/2026</a:t>
            </a:fld>
            <a:endParaRPr lang="en-US"/>
          </a:p>
        </p:txBody>
      </p:sp>
      <p:sp>
        <p:nvSpPr>
          <p:cNvPr id="4" name="Slide Image Placeholder 3"/>
          <p:cNvSpPr>
            <a:spLocks noGrp="1" noRot="1" noChangeAspect="1"/>
          </p:cNvSpPr>
          <p:nvPr>
            <p:ph type="sldImg" idx="2"/>
          </p:nvPr>
        </p:nvSpPr>
        <p:spPr>
          <a:xfrm>
            <a:off x="1412875" y="1160463"/>
            <a:ext cx="4184650" cy="3138487"/>
          </a:xfrm>
          <a:prstGeom prst="rect">
            <a:avLst/>
          </a:prstGeom>
          <a:noFill/>
          <a:ln w="12700">
            <a:solidFill>
              <a:prstClr val="black"/>
            </a:solidFill>
          </a:ln>
        </p:spPr>
        <p:txBody>
          <a:bodyPr vert="horz" lIns="93139" tIns="46571" rIns="93139" bIns="46571"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3139" tIns="46571" rIns="93139" bIns="4657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3"/>
          </a:xfrm>
          <a:prstGeom prst="rect">
            <a:avLst/>
          </a:prstGeom>
        </p:spPr>
        <p:txBody>
          <a:bodyPr vert="horz" lIns="93139" tIns="46571" rIns="93139" bIns="46571" rtlCol="0" anchor="b"/>
          <a:lstStyle>
            <a:lvl1pPr algn="l">
              <a:defRPr sz="1200"/>
            </a:lvl1pPr>
          </a:lstStyle>
          <a:p>
            <a:endParaRPr lang="en-US"/>
          </a:p>
        </p:txBody>
      </p:sp>
      <p:sp>
        <p:nvSpPr>
          <p:cNvPr id="7" name="Slide Number Placeholder 6"/>
          <p:cNvSpPr>
            <a:spLocks noGrp="1"/>
          </p:cNvSpPr>
          <p:nvPr>
            <p:ph type="sldNum" sz="quarter" idx="5"/>
          </p:nvPr>
        </p:nvSpPr>
        <p:spPr>
          <a:xfrm>
            <a:off x="3970939" y="8829968"/>
            <a:ext cx="3037840" cy="466433"/>
          </a:xfrm>
          <a:prstGeom prst="rect">
            <a:avLst/>
          </a:prstGeom>
        </p:spPr>
        <p:txBody>
          <a:bodyPr vert="horz" lIns="93139" tIns="46571" rIns="93139" bIns="46571" rtlCol="0" anchor="b"/>
          <a:lstStyle>
            <a:lvl1pPr algn="r">
              <a:defRPr sz="1200"/>
            </a:lvl1pPr>
          </a:lstStyle>
          <a:p>
            <a:fld id="{0E74E66C-5A2F-4D7C-A54C-E951078938A9}" type="slidenum">
              <a:rPr lang="en-US" smtClean="0"/>
              <a:t>‹#›</a:t>
            </a:fld>
            <a:endParaRPr lang="en-US"/>
          </a:p>
        </p:txBody>
      </p:sp>
    </p:spTree>
    <p:extLst>
      <p:ext uri="{BB962C8B-B14F-4D97-AF65-F5344CB8AC3E}">
        <p14:creationId xmlns:p14="http://schemas.microsoft.com/office/powerpoint/2010/main" val="1018528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D898B-1C22-05BA-B84D-AEB46AD16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1BC57-6520-9C24-950A-373827523C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474FF-C7CC-2DE4-480D-2480E93D03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B80CBF-F952-5D3D-B613-D06CBAB2B794}"/>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6</a:t>
            </a:fld>
            <a:endParaRPr lang="en-US" sz="1300">
              <a:solidFill>
                <a:prstClr val="black"/>
              </a:solidFill>
              <a:latin typeface="Calibri" pitchFamily="34" charset="0"/>
            </a:endParaRPr>
          </a:p>
        </p:txBody>
      </p:sp>
    </p:spTree>
    <p:extLst>
      <p:ext uri="{BB962C8B-B14F-4D97-AF65-F5344CB8AC3E}">
        <p14:creationId xmlns:p14="http://schemas.microsoft.com/office/powerpoint/2010/main" val="2030558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DE0FF-B2C5-DD0C-3633-31DC12300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23394-26A9-B48E-2B82-634F79B13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C3CEF-5678-B832-A010-9743019364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A2D0BB-F626-E49E-0AE9-DBB5FCDC68E6}"/>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7</a:t>
            </a:fld>
            <a:endParaRPr lang="en-US" sz="1300">
              <a:solidFill>
                <a:prstClr val="black"/>
              </a:solidFill>
              <a:latin typeface="Calibri" pitchFamily="34" charset="0"/>
            </a:endParaRPr>
          </a:p>
        </p:txBody>
      </p:sp>
    </p:spTree>
    <p:extLst>
      <p:ext uri="{BB962C8B-B14F-4D97-AF65-F5344CB8AC3E}">
        <p14:creationId xmlns:p14="http://schemas.microsoft.com/office/powerpoint/2010/main" val="3165652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BF49A-92E0-4221-D1EB-22859151C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49CE4-CAA8-E2DF-D28A-2445E2411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61C5C-5064-DE71-F4EA-4DCD4A10C8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DD0A03-53E0-EF81-106C-D5C324A9C13B}"/>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8</a:t>
            </a:fld>
            <a:endParaRPr lang="en-US" sz="1300">
              <a:solidFill>
                <a:prstClr val="black"/>
              </a:solidFill>
              <a:latin typeface="Calibri" pitchFamily="34" charset="0"/>
            </a:endParaRPr>
          </a:p>
        </p:txBody>
      </p:sp>
    </p:spTree>
    <p:extLst>
      <p:ext uri="{BB962C8B-B14F-4D97-AF65-F5344CB8AC3E}">
        <p14:creationId xmlns:p14="http://schemas.microsoft.com/office/powerpoint/2010/main" val="2620061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857F9-1D40-5261-53AD-85E8091516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51FDB-1825-330A-1787-6538DC842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E3D48-5A2C-4369-331B-4CBA856E30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E61301-F2A9-6370-C29E-93F4241D1147}"/>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9</a:t>
            </a:fld>
            <a:endParaRPr lang="en-US" sz="1300">
              <a:solidFill>
                <a:prstClr val="black"/>
              </a:solidFill>
              <a:latin typeface="Calibri" pitchFamily="34" charset="0"/>
            </a:endParaRPr>
          </a:p>
        </p:txBody>
      </p:sp>
    </p:spTree>
    <p:extLst>
      <p:ext uri="{BB962C8B-B14F-4D97-AF65-F5344CB8AC3E}">
        <p14:creationId xmlns:p14="http://schemas.microsoft.com/office/powerpoint/2010/main" val="978853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DC9C-9CF6-4DD1-8798-7C3C3D4F9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AE9E5-9ACF-743A-6FF1-3E5307FA7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56510-A9F6-5CD8-6004-97C7FFC59C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FDADCF-B572-57CB-94EC-996E6D17A618}"/>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10</a:t>
            </a:fld>
            <a:endParaRPr lang="en-US" sz="1300">
              <a:solidFill>
                <a:prstClr val="black"/>
              </a:solidFill>
              <a:latin typeface="Calibri" pitchFamily="34" charset="0"/>
            </a:endParaRPr>
          </a:p>
        </p:txBody>
      </p:sp>
    </p:spTree>
    <p:extLst>
      <p:ext uri="{BB962C8B-B14F-4D97-AF65-F5344CB8AC3E}">
        <p14:creationId xmlns:p14="http://schemas.microsoft.com/office/powerpoint/2010/main" val="171771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90281-ECE2-C242-3BAE-5474A406E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09FBE-ACCB-7B9B-64BE-3CD7E69D9E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FCBF0-21DD-E9D2-2178-5B1226BC90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A6B684-9458-11D7-39D3-AD995B8D69EC}"/>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11</a:t>
            </a:fld>
            <a:endParaRPr lang="en-US" sz="1300">
              <a:solidFill>
                <a:prstClr val="black"/>
              </a:solidFill>
              <a:latin typeface="Calibri" pitchFamily="34" charset="0"/>
            </a:endParaRPr>
          </a:p>
        </p:txBody>
      </p:sp>
    </p:spTree>
    <p:extLst>
      <p:ext uri="{BB962C8B-B14F-4D97-AF65-F5344CB8AC3E}">
        <p14:creationId xmlns:p14="http://schemas.microsoft.com/office/powerpoint/2010/main" val="549827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809E6-7EC9-7A5D-8D2C-89FF04814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67785-F3F3-98DA-8D55-27ED84C259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88DD3-25AB-CB70-9BE1-E36F31B396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8C93F8-7B05-95FF-90AE-A08CBE0A674A}"/>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12</a:t>
            </a:fld>
            <a:endParaRPr lang="en-US" sz="1300">
              <a:solidFill>
                <a:prstClr val="black"/>
              </a:solidFill>
              <a:latin typeface="Calibri" pitchFamily="34" charset="0"/>
            </a:endParaRPr>
          </a:p>
        </p:txBody>
      </p:sp>
    </p:spTree>
    <p:extLst>
      <p:ext uri="{BB962C8B-B14F-4D97-AF65-F5344CB8AC3E}">
        <p14:creationId xmlns:p14="http://schemas.microsoft.com/office/powerpoint/2010/main" val="79851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472C1-6FD8-16C3-BAC1-37D93C338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C1E92-B061-7D11-71C4-9157F83C0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580AE-C88E-21E2-2153-1AA53F7495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2BB73D-1847-57A1-7537-8E4ECD4D93D7}"/>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13</a:t>
            </a:fld>
            <a:endParaRPr lang="en-US" sz="1300">
              <a:solidFill>
                <a:prstClr val="black"/>
              </a:solidFill>
              <a:latin typeface="Calibri" pitchFamily="34" charset="0"/>
            </a:endParaRPr>
          </a:p>
        </p:txBody>
      </p:sp>
    </p:spTree>
    <p:extLst>
      <p:ext uri="{BB962C8B-B14F-4D97-AF65-F5344CB8AC3E}">
        <p14:creationId xmlns:p14="http://schemas.microsoft.com/office/powerpoint/2010/main" val="3768287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882FD-3ABD-5B03-F074-A33589C1C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D16D4-0420-C885-0C34-A934EE12E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555FB-F5B4-7025-8C72-4BBFEF175B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A23F4C-4AA3-065C-0064-D669E3470C75}"/>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14</a:t>
            </a:fld>
            <a:endParaRPr lang="en-US" sz="1300">
              <a:solidFill>
                <a:prstClr val="black"/>
              </a:solidFill>
              <a:latin typeface="Calibri" pitchFamily="34" charset="0"/>
            </a:endParaRPr>
          </a:p>
        </p:txBody>
      </p:sp>
    </p:spTree>
    <p:extLst>
      <p:ext uri="{BB962C8B-B14F-4D97-AF65-F5344CB8AC3E}">
        <p14:creationId xmlns:p14="http://schemas.microsoft.com/office/powerpoint/2010/main" val="559844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06F1F-16A2-3663-B440-1BEE953D9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80D35-7279-DBE0-FC9E-2A7CB1961E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400E3B-09E5-2EB1-55F5-46F5562201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E4A439-C781-0D44-C978-2CB978C66741}"/>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15</a:t>
            </a:fld>
            <a:endParaRPr lang="en-US" sz="1300">
              <a:solidFill>
                <a:prstClr val="black"/>
              </a:solidFill>
              <a:latin typeface="Calibri" pitchFamily="34" charset="0"/>
            </a:endParaRPr>
          </a:p>
        </p:txBody>
      </p:sp>
    </p:spTree>
    <p:extLst>
      <p:ext uri="{BB962C8B-B14F-4D97-AF65-F5344CB8AC3E}">
        <p14:creationId xmlns:p14="http://schemas.microsoft.com/office/powerpoint/2010/main" val="1364834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9712B-48E5-C851-397C-EE8087E2A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71A34-CCDE-6619-7BE1-6F044BF1418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0CDA36-CA3D-6282-0849-2A771158CC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8A1063-1A70-77BF-4F70-573B7F5FB2E0}"/>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16</a:t>
            </a:fld>
            <a:endParaRPr lang="en-US" sz="1300">
              <a:solidFill>
                <a:prstClr val="black"/>
              </a:solidFill>
              <a:latin typeface="Calibri" pitchFamily="34" charset="0"/>
            </a:endParaRPr>
          </a:p>
        </p:txBody>
      </p:sp>
    </p:spTree>
    <p:extLst>
      <p:ext uri="{BB962C8B-B14F-4D97-AF65-F5344CB8AC3E}">
        <p14:creationId xmlns:p14="http://schemas.microsoft.com/office/powerpoint/2010/main" val="1210097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E934E-4227-3A50-1558-099ECDEA5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E16E3C-2F9D-2014-03A9-B9180CACE8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0728CC-4C75-6F9F-2CE5-1E33998EE7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C19382-0243-0FEF-C18F-10CA2D993CF7}"/>
              </a:ext>
            </a:extLst>
          </p:cNvPr>
          <p:cNvSpPr>
            <a:spLocks noGrp="1"/>
          </p:cNvSpPr>
          <p:nvPr>
            <p:ph type="sldNum" sz="quarter" idx="5"/>
          </p:nvPr>
        </p:nvSpPr>
        <p:spPr/>
        <p:txBody>
          <a:bodyPr/>
          <a:lstStyle/>
          <a:p>
            <a:pPr defTabSz="898068" fontAlgn="base">
              <a:spcBef>
                <a:spcPct val="0"/>
              </a:spcBef>
              <a:spcAft>
                <a:spcPct val="0"/>
              </a:spcAft>
              <a:defRPr/>
            </a:pPr>
            <a:fld id="{61043A8E-0A2F-40E8-9EFB-25FD0EF04021}" type="slidenum">
              <a:rPr lang="en-US" sz="1300">
                <a:solidFill>
                  <a:prstClr val="black"/>
                </a:solidFill>
                <a:latin typeface="Calibri" pitchFamily="34" charset="0"/>
              </a:rPr>
              <a:pPr defTabSz="898068" fontAlgn="base">
                <a:spcBef>
                  <a:spcPct val="0"/>
                </a:spcBef>
                <a:spcAft>
                  <a:spcPct val="0"/>
                </a:spcAft>
                <a:defRPr/>
              </a:pPr>
              <a:t>17</a:t>
            </a:fld>
            <a:endParaRPr lang="en-US" sz="1300">
              <a:solidFill>
                <a:prstClr val="black"/>
              </a:solidFill>
              <a:latin typeface="Calibri" pitchFamily="34" charset="0"/>
            </a:endParaRPr>
          </a:p>
        </p:txBody>
      </p:sp>
    </p:spTree>
    <p:extLst>
      <p:ext uri="{BB962C8B-B14F-4D97-AF65-F5344CB8AC3E}">
        <p14:creationId xmlns:p14="http://schemas.microsoft.com/office/powerpoint/2010/main" val="193692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E74E66C-5A2F-4D7C-A54C-E951078938A9}" type="slidenum">
              <a:rPr lang="en-US" smtClean="0"/>
              <a:t>18</a:t>
            </a:fld>
            <a:endParaRPr lang="en-US"/>
          </a:p>
        </p:txBody>
      </p:sp>
    </p:spTree>
    <p:extLst>
      <p:ext uri="{BB962C8B-B14F-4D97-AF65-F5344CB8AC3E}">
        <p14:creationId xmlns:p14="http://schemas.microsoft.com/office/powerpoint/2010/main" val="3716520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800"/>
            </a:lvl1pPr>
          </a:lstStyle>
          <a:p>
            <a:fld id="{11F47A36-4E31-4C8F-8AE7-9186BF60ECD9}" type="slidenum">
              <a:rPr lang="en-US" smtClean="0"/>
              <a:pPr/>
              <a:t>‹#›</a:t>
            </a:fld>
            <a:endParaRPr lang="en-US"/>
          </a:p>
        </p:txBody>
      </p:sp>
    </p:spTree>
    <p:extLst>
      <p:ext uri="{BB962C8B-B14F-4D97-AF65-F5344CB8AC3E}">
        <p14:creationId xmlns:p14="http://schemas.microsoft.com/office/powerpoint/2010/main" val="69326907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180459-E74E-4333-8515-7C9C1623E493}"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F47A36-4E31-4C8F-8AE7-9186BF60ECD9}" type="slidenum">
              <a:rPr lang="en-US" smtClean="0"/>
              <a:t>‹#›</a:t>
            </a:fld>
            <a:endParaRPr lang="en-US"/>
          </a:p>
        </p:txBody>
      </p:sp>
      <p:pic>
        <p:nvPicPr>
          <p:cNvPr id="7" name="Picture 6">
            <a:extLst>
              <a:ext uri="{FF2B5EF4-FFF2-40B4-BE49-F238E27FC236}">
                <a16:creationId xmlns:a16="http://schemas.microsoft.com/office/drawing/2014/main" id="{D89BECF3-550A-922E-DE42-6EBD32AABBE7}"/>
              </a:ext>
            </a:extLst>
          </p:cNvPr>
          <p:cNvPicPr>
            <a:picLocks noChangeAspect="1"/>
          </p:cNvPicPr>
          <p:nvPr userDrawn="1"/>
        </p:nvPicPr>
        <p:blipFill>
          <a:blip r:embed="rId2"/>
          <a:stretch>
            <a:fillRect/>
          </a:stretch>
        </p:blipFill>
        <p:spPr>
          <a:xfrm>
            <a:off x="0" y="6385043"/>
            <a:ext cx="831040" cy="452883"/>
          </a:xfrm>
          <a:prstGeom prst="rect">
            <a:avLst/>
          </a:prstGeom>
        </p:spPr>
      </p:pic>
      <p:cxnSp>
        <p:nvCxnSpPr>
          <p:cNvPr id="8" name="Straight Connector 7">
            <a:extLst>
              <a:ext uri="{FF2B5EF4-FFF2-40B4-BE49-F238E27FC236}">
                <a16:creationId xmlns:a16="http://schemas.microsoft.com/office/drawing/2014/main" id="{4143B131-725A-40DC-1AD0-01B7B5128F92}"/>
              </a:ext>
            </a:extLst>
          </p:cNvPr>
          <p:cNvCxnSpPr>
            <a:cxnSpLocks/>
          </p:cNvCxnSpPr>
          <p:nvPr userDrawn="1"/>
        </p:nvCxnSpPr>
        <p:spPr>
          <a:xfrm>
            <a:off x="201168" y="681037"/>
            <a:ext cx="8741664"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983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28312444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137903181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2153367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15043803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16547072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272900614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17281028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104758063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F47A36-4E31-4C8F-8AE7-9186BF60ECD9}" type="slidenum">
              <a:rPr lang="en-US" smtClean="0"/>
              <a:t>‹#›</a:t>
            </a:fld>
            <a:endParaRPr lang="en-US"/>
          </a:p>
        </p:txBody>
      </p:sp>
    </p:spTree>
    <p:extLst>
      <p:ext uri="{BB962C8B-B14F-4D97-AF65-F5344CB8AC3E}">
        <p14:creationId xmlns:p14="http://schemas.microsoft.com/office/powerpoint/2010/main" val="254077043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5FD3A-F9B1-4D44-A70F-BB52004294C0}"/>
              </a:ext>
            </a:extLst>
          </p:cNvPr>
          <p:cNvSpPr>
            <a:spLocks noGrp="1"/>
          </p:cNvSpPr>
          <p:nvPr>
            <p:ph type="title"/>
          </p:nvPr>
        </p:nvSpPr>
        <p:spPr>
          <a:xfrm>
            <a:off x="250903" y="52801"/>
            <a:ext cx="8578772" cy="556801"/>
          </a:xfrm>
          <a:prstGeom prst="rect">
            <a:avLst/>
          </a:prstGeom>
        </p:spPr>
        <p:txBody>
          <a:bodyPr>
            <a:normAutofit/>
          </a:bodyPr>
          <a:lstStyle>
            <a:lvl1pPr>
              <a:defRPr sz="2400">
                <a:solidFill>
                  <a:srgbClr val="0076BD"/>
                </a:solidFill>
              </a:defRPr>
            </a:lvl1pPr>
          </a:lstStyle>
          <a:p>
            <a:r>
              <a:rPr lang="en-US"/>
              <a:t>Click to edit Master title style</a:t>
            </a:r>
          </a:p>
        </p:txBody>
      </p:sp>
      <p:sp>
        <p:nvSpPr>
          <p:cNvPr id="12" name="Text Placeholder 11">
            <a:extLst>
              <a:ext uri="{FF2B5EF4-FFF2-40B4-BE49-F238E27FC236}">
                <a16:creationId xmlns:a16="http://schemas.microsoft.com/office/drawing/2014/main" id="{7950F871-E40C-4DCC-B7FB-FEC078A9B665}"/>
              </a:ext>
            </a:extLst>
          </p:cNvPr>
          <p:cNvSpPr>
            <a:spLocks noGrp="1"/>
          </p:cNvSpPr>
          <p:nvPr>
            <p:ph type="body" sz="quarter" idx="13" hasCustomPrompt="1"/>
          </p:nvPr>
        </p:nvSpPr>
        <p:spPr>
          <a:xfrm>
            <a:off x="250902" y="500220"/>
            <a:ext cx="8503920" cy="416334"/>
          </a:xfrm>
          <a:prstGeom prst="rect">
            <a:avLst/>
          </a:prstGeom>
        </p:spPr>
        <p:txBody>
          <a:bodyPr/>
          <a:lstStyle>
            <a:lvl1pPr marL="0" indent="0">
              <a:buNone/>
              <a:defRPr sz="1200"/>
            </a:lvl1pPr>
          </a:lstStyle>
          <a:p>
            <a:pPr lvl="0"/>
            <a:r>
              <a:rPr lang="en-US"/>
              <a:t>Subtitles</a:t>
            </a:r>
          </a:p>
        </p:txBody>
      </p:sp>
      <p:sp>
        <p:nvSpPr>
          <p:cNvPr id="4" name="Slide Number Placeholder 5">
            <a:extLst>
              <a:ext uri="{FF2B5EF4-FFF2-40B4-BE49-F238E27FC236}">
                <a16:creationId xmlns:a16="http://schemas.microsoft.com/office/drawing/2014/main" id="{5D941B27-8D6F-3BBE-B102-A85C78BAEF9C}"/>
              </a:ext>
            </a:extLst>
          </p:cNvPr>
          <p:cNvSpPr>
            <a:spLocks noGrp="1"/>
          </p:cNvSpPr>
          <p:nvPr>
            <p:ph type="sldNum" sz="quarter" idx="12"/>
          </p:nvPr>
        </p:nvSpPr>
        <p:spPr>
          <a:xfrm>
            <a:off x="8849106" y="6650966"/>
            <a:ext cx="294894" cy="168934"/>
          </a:xfrm>
          <a:prstGeom prst="rect">
            <a:avLst/>
          </a:prstGeom>
        </p:spPr>
        <p:txBody>
          <a:bodyPr lIns="0" tIns="0" rIns="0" bIns="0" anchor="ctr"/>
          <a:lstStyle>
            <a:lvl1pPr algn="ctr">
              <a:defRPr sz="800">
                <a:solidFill>
                  <a:schemeClr val="bg2">
                    <a:lumMod val="50000"/>
                  </a:schemeClr>
                </a:solidFill>
                <a:latin typeface="Arial" panose="020B0604020202020204" pitchFamily="34" charset="0"/>
                <a:cs typeface="Arial" panose="020B0604020202020204" pitchFamily="34" charset="0"/>
              </a:defRPr>
            </a:lvl1pPr>
          </a:lstStyle>
          <a:p>
            <a:fld id="{5E60824B-427F-0546-8E63-CCBFBFE2F314}" type="slidenum">
              <a:rPr lang="en-US" smtClean="0"/>
              <a:pPr/>
              <a:t>‹#›</a:t>
            </a:fld>
            <a:endParaRPr lang="en-US"/>
          </a:p>
        </p:txBody>
      </p:sp>
      <p:sp>
        <p:nvSpPr>
          <p:cNvPr id="5" name="Rectangle 4">
            <a:extLst>
              <a:ext uri="{FF2B5EF4-FFF2-40B4-BE49-F238E27FC236}">
                <a16:creationId xmlns:a16="http://schemas.microsoft.com/office/drawing/2014/main" id="{1D193411-011F-EDA2-76B5-311FBC9128F3}"/>
              </a:ext>
            </a:extLst>
          </p:cNvPr>
          <p:cNvSpPr/>
          <p:nvPr userDrawn="1"/>
        </p:nvSpPr>
        <p:spPr>
          <a:xfrm>
            <a:off x="-886934" y="2758944"/>
            <a:ext cx="640080" cy="640080"/>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6" name="Rectangle 5">
            <a:extLst>
              <a:ext uri="{FF2B5EF4-FFF2-40B4-BE49-F238E27FC236}">
                <a16:creationId xmlns:a16="http://schemas.microsoft.com/office/drawing/2014/main" id="{23CA908B-0499-839F-60F0-036BC36C27C8}"/>
              </a:ext>
            </a:extLst>
          </p:cNvPr>
          <p:cNvSpPr/>
          <p:nvPr userDrawn="1"/>
        </p:nvSpPr>
        <p:spPr>
          <a:xfrm>
            <a:off x="-886934" y="2042496"/>
            <a:ext cx="640080" cy="640080"/>
          </a:xfrm>
          <a:prstGeom prst="rect">
            <a:avLst/>
          </a:prstGeom>
          <a:solidFill>
            <a:srgbClr val="297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6">
            <a:extLst>
              <a:ext uri="{FF2B5EF4-FFF2-40B4-BE49-F238E27FC236}">
                <a16:creationId xmlns:a16="http://schemas.microsoft.com/office/drawing/2014/main" id="{C62CADF3-4445-7580-DE76-A5E5F202ABD9}"/>
              </a:ext>
            </a:extLst>
          </p:cNvPr>
          <p:cNvSpPr/>
          <p:nvPr userDrawn="1"/>
        </p:nvSpPr>
        <p:spPr>
          <a:xfrm>
            <a:off x="-886934" y="1326049"/>
            <a:ext cx="640080" cy="640080"/>
          </a:xfrm>
          <a:prstGeom prst="rect">
            <a:avLst/>
          </a:pr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8" name="Rectangle 7">
            <a:extLst>
              <a:ext uri="{FF2B5EF4-FFF2-40B4-BE49-F238E27FC236}">
                <a16:creationId xmlns:a16="http://schemas.microsoft.com/office/drawing/2014/main" id="{5647F112-B3A2-BB6B-89EB-9F312A8AD4A3}"/>
              </a:ext>
            </a:extLst>
          </p:cNvPr>
          <p:cNvSpPr/>
          <p:nvPr userDrawn="1"/>
        </p:nvSpPr>
        <p:spPr>
          <a:xfrm>
            <a:off x="-886934" y="609602"/>
            <a:ext cx="640080" cy="64008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cxnSp>
        <p:nvCxnSpPr>
          <p:cNvPr id="9" name="Straight Connector 8">
            <a:extLst>
              <a:ext uri="{FF2B5EF4-FFF2-40B4-BE49-F238E27FC236}">
                <a16:creationId xmlns:a16="http://schemas.microsoft.com/office/drawing/2014/main" id="{57866938-CF6E-9947-63A9-3BAFE5F8D469}"/>
              </a:ext>
            </a:extLst>
          </p:cNvPr>
          <p:cNvCxnSpPr>
            <a:cxnSpLocks/>
          </p:cNvCxnSpPr>
          <p:nvPr userDrawn="1"/>
        </p:nvCxnSpPr>
        <p:spPr>
          <a:xfrm>
            <a:off x="201168" y="522478"/>
            <a:ext cx="8741664" cy="0"/>
          </a:xfrm>
          <a:prstGeom prst="line">
            <a:avLst/>
          </a:prstGeom>
          <a:ln w="19050">
            <a:solidFill>
              <a:srgbClr val="4472C4"/>
            </a:solidFill>
          </a:ln>
        </p:spPr>
        <p:style>
          <a:lnRef idx="1">
            <a:schemeClr val="accent1"/>
          </a:lnRef>
          <a:fillRef idx="0">
            <a:schemeClr val="accent1"/>
          </a:fillRef>
          <a:effectRef idx="0">
            <a:schemeClr val="accent1"/>
          </a:effectRef>
          <a:fontRef idx="minor">
            <a:schemeClr val="tx1"/>
          </a:fontRef>
        </p:style>
      </p:cxnSp>
      <p:pic>
        <p:nvPicPr>
          <p:cNvPr id="10" name="Picture 6" descr="sbhc-logo">
            <a:extLst>
              <a:ext uri="{FF2B5EF4-FFF2-40B4-BE49-F238E27FC236}">
                <a16:creationId xmlns:a16="http://schemas.microsoft.com/office/drawing/2014/main" id="{EBF4B112-1F53-D5CC-C1F5-C909B1262938}"/>
              </a:ext>
            </a:extLst>
          </p:cNvPr>
          <p:cNvPicPr>
            <a:picLocks noChangeAspect="1" noChangeArrowheads="1"/>
          </p:cNvPicPr>
          <p:nvPr userDrawn="1"/>
        </p:nvPicPr>
        <p:blipFill>
          <a:blip r:embed="rId2"/>
          <a:srcRect/>
          <a:stretch>
            <a:fillRect/>
          </a:stretch>
        </p:blipFill>
        <p:spPr bwMode="auto">
          <a:xfrm>
            <a:off x="0" y="6437738"/>
            <a:ext cx="638175" cy="420262"/>
          </a:xfrm>
          <a:prstGeom prst="rect">
            <a:avLst/>
          </a:prstGeom>
          <a:noFill/>
          <a:ln w="9525">
            <a:noFill/>
            <a:miter lim="800000"/>
            <a:headEnd/>
            <a:tailEnd/>
          </a:ln>
        </p:spPr>
      </p:pic>
    </p:spTree>
    <p:extLst>
      <p:ext uri="{BB962C8B-B14F-4D97-AF65-F5344CB8AC3E}">
        <p14:creationId xmlns:p14="http://schemas.microsoft.com/office/powerpoint/2010/main" val="845088109"/>
      </p:ext>
    </p:extLst>
  </p:cSld>
  <p:clrMapOvr>
    <a:masterClrMapping/>
  </p:clrMapOvr>
  <p:extLst>
    <p:ext uri="{DCECCB84-F9BA-43D5-87BE-67443E8EF086}">
      <p15:sldGuideLst xmlns:p15="http://schemas.microsoft.com/office/powerpoint/2012/main">
        <p15:guide id="1" pos="1584">
          <p15:clr>
            <a:srgbClr val="FBAE40"/>
          </p15:clr>
        </p15:guide>
        <p15:guide id="2" pos="2880">
          <p15:clr>
            <a:srgbClr val="FBAE40"/>
          </p15:clr>
        </p15:guide>
        <p15:guide id="3" pos="4176">
          <p15:clr>
            <a:srgbClr val="FBAE40"/>
          </p15:clr>
        </p15:guide>
        <p15:guide id="4" pos="198">
          <p15:clr>
            <a:srgbClr val="FBAE40"/>
          </p15:clr>
        </p15:guide>
        <p15:guide id="5" pos="5562">
          <p15:clr>
            <a:srgbClr val="FBAE40"/>
          </p15:clr>
        </p15:guide>
        <p15:guide id="6" orient="horz" pos="576">
          <p15:clr>
            <a:srgbClr val="FBAE40"/>
          </p15:clr>
        </p15:guide>
        <p15:guide id="7" orient="horz" pos="816">
          <p15:clr>
            <a:srgbClr val="FBAE40"/>
          </p15:clr>
        </p15:guide>
        <p15:guide id="8" orient="horz" pos="408">
          <p15:clr>
            <a:srgbClr val="FBAE40"/>
          </p15:clr>
        </p15:guide>
        <p15:guide id="9" orient="horz" pos="3648">
          <p15:clr>
            <a:srgbClr val="FBAE40"/>
          </p15:clr>
        </p15:guide>
        <p15:guide id="10" orient="horz" pos="120">
          <p15:clr>
            <a:srgbClr val="FBAE40"/>
          </p15:clr>
        </p15:guide>
        <p15:guide id="11"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a:extLst>
              <a:ext uri="{FF2B5EF4-FFF2-40B4-BE49-F238E27FC236}">
                <a16:creationId xmlns:a16="http://schemas.microsoft.com/office/drawing/2014/main" id="{5FB0E6B8-14C0-63BC-DEF0-58D85E77E165}"/>
              </a:ext>
            </a:extLst>
          </p:cNvPr>
          <p:cNvPicPr>
            <a:picLocks noChangeAspect="1"/>
          </p:cNvPicPr>
          <p:nvPr userDrawn="1"/>
        </p:nvPicPr>
        <p:blipFill>
          <a:blip r:embed="rId2"/>
          <a:stretch>
            <a:fillRect/>
          </a:stretch>
        </p:blipFill>
        <p:spPr>
          <a:xfrm>
            <a:off x="2306802" y="1037754"/>
            <a:ext cx="4530395" cy="2468880"/>
          </a:xfrm>
          <a:prstGeom prst="rect">
            <a:avLst/>
          </a:prstGeom>
        </p:spPr>
      </p:pic>
    </p:spTree>
    <p:extLst>
      <p:ext uri="{BB962C8B-B14F-4D97-AF65-F5344CB8AC3E}">
        <p14:creationId xmlns:p14="http://schemas.microsoft.com/office/powerpoint/2010/main" val="3197774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F47A36-4E31-4C8F-8AE7-9186BF60ECD9}" type="slidenum">
              <a:rPr lang="en-US" smtClean="0"/>
              <a:t>‹#›</a:t>
            </a:fld>
            <a:endParaRPr lang="en-US"/>
          </a:p>
        </p:txBody>
      </p:sp>
    </p:spTree>
    <p:extLst>
      <p:ext uri="{BB962C8B-B14F-4D97-AF65-F5344CB8AC3E}">
        <p14:creationId xmlns:p14="http://schemas.microsoft.com/office/powerpoint/2010/main" val="252421615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slideLayout" Target="../slideLayouts/slideLayout12.xml"/><Relationship Id="rId7" Type="http://schemas.openxmlformats.org/officeDocument/2006/relationships/image" Target="../media/image13.e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1.bin"/><Relationship Id="rId5" Type="http://schemas.microsoft.com/office/2018/10/relationships/comments" Target="../comments/modernComment_7FFE5DD5_2D75F68B.xml"/><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5.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6.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7.emf"/><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8.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slideLayout" Target="../slideLayouts/slideLayout12.xml"/><Relationship Id="rId7" Type="http://schemas.openxmlformats.org/officeDocument/2006/relationships/image" Target="../media/image19.emf"/><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21.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F9830-EFA0-EC35-6933-75B76492D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6A445-BD8A-CD32-C2C6-A670B253B43F}"/>
              </a:ext>
            </a:extLst>
          </p:cNvPr>
          <p:cNvSpPr>
            <a:spLocks noGrp="1"/>
          </p:cNvSpPr>
          <p:nvPr>
            <p:ph type="ctrTitle"/>
          </p:nvPr>
        </p:nvSpPr>
        <p:spPr>
          <a:xfrm>
            <a:off x="615636" y="1122363"/>
            <a:ext cx="7842564" cy="2387600"/>
          </a:xfrm>
        </p:spPr>
        <p:txBody>
          <a:bodyPr/>
          <a:lstStyle/>
          <a:p>
            <a:pPr algn="l"/>
            <a:r>
              <a:rPr lang="en-US" sz="2800" b="1">
                <a:solidFill>
                  <a:srgbClr val="0070C0"/>
                </a:solidFill>
              </a:rPr>
              <a:t>Month End Results – Highland Hospital</a:t>
            </a:r>
          </a:p>
        </p:txBody>
      </p:sp>
      <p:pic>
        <p:nvPicPr>
          <p:cNvPr id="5" name="Picture 6" descr="sbhc-logo">
            <a:extLst>
              <a:ext uri="{FF2B5EF4-FFF2-40B4-BE49-F238E27FC236}">
                <a16:creationId xmlns:a16="http://schemas.microsoft.com/office/drawing/2014/main" id="{BFC6FE33-F2D9-C4C9-AD16-FE43E4538DE8}"/>
              </a:ext>
            </a:extLst>
          </p:cNvPr>
          <p:cNvPicPr>
            <a:picLocks noChangeAspect="1" noChangeArrowheads="1"/>
          </p:cNvPicPr>
          <p:nvPr/>
        </p:nvPicPr>
        <p:blipFill>
          <a:blip r:embed="rId2"/>
          <a:srcRect/>
          <a:stretch>
            <a:fillRect/>
          </a:stretch>
        </p:blipFill>
        <p:spPr bwMode="auto">
          <a:xfrm>
            <a:off x="0" y="6328372"/>
            <a:ext cx="804250" cy="529628"/>
          </a:xfrm>
          <a:prstGeom prst="rect">
            <a:avLst/>
          </a:prstGeom>
          <a:noFill/>
          <a:ln w="9525">
            <a:noFill/>
            <a:miter lim="800000"/>
            <a:headEnd/>
            <a:tailEnd/>
          </a:ln>
        </p:spPr>
      </p:pic>
      <p:cxnSp>
        <p:nvCxnSpPr>
          <p:cNvPr id="7" name="Straight Connector 6">
            <a:extLst>
              <a:ext uri="{FF2B5EF4-FFF2-40B4-BE49-F238E27FC236}">
                <a16:creationId xmlns:a16="http://schemas.microsoft.com/office/drawing/2014/main" id="{8D149A55-4F70-2CE2-5035-08A4FAB68756}"/>
              </a:ext>
            </a:extLst>
          </p:cNvPr>
          <p:cNvCxnSpPr>
            <a:cxnSpLocks/>
          </p:cNvCxnSpPr>
          <p:nvPr/>
        </p:nvCxnSpPr>
        <p:spPr>
          <a:xfrm>
            <a:off x="615636" y="3519532"/>
            <a:ext cx="7842564"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46D2683-EFE5-07B5-091B-362B61B6996C}"/>
              </a:ext>
            </a:extLst>
          </p:cNvPr>
          <p:cNvSpPr txBox="1"/>
          <p:nvPr/>
        </p:nvSpPr>
        <p:spPr>
          <a:xfrm>
            <a:off x="615636" y="3529102"/>
            <a:ext cx="2971800" cy="400110"/>
          </a:xfrm>
          <a:prstGeom prst="rect">
            <a:avLst/>
          </a:prstGeom>
          <a:noFill/>
        </p:spPr>
        <p:txBody>
          <a:bodyPr wrap="square" lIns="91440" tIns="45720" rIns="91440" bIns="45720" rtlCol="0" anchor="t">
            <a:spAutoFit/>
          </a:bodyPr>
          <a:lstStyle/>
          <a:p>
            <a:pPr>
              <a:defRPr/>
            </a:pPr>
            <a:r>
              <a:rPr lang="en-US" sz="2000" b="1" i="1">
                <a:solidFill>
                  <a:srgbClr val="0070C0"/>
                </a:solidFill>
                <a:latin typeface="Calibri Light" panose="020F0302020204030204"/>
              </a:rPr>
              <a:t>April 2026</a:t>
            </a:r>
          </a:p>
        </p:txBody>
      </p:sp>
      <p:sp>
        <p:nvSpPr>
          <p:cNvPr id="6" name="Slide Number Placeholder 1">
            <a:extLst>
              <a:ext uri="{FF2B5EF4-FFF2-40B4-BE49-F238E27FC236}">
                <a16:creationId xmlns:a16="http://schemas.microsoft.com/office/drawing/2014/main" id="{76750958-642D-C412-A64C-9B641D75440B}"/>
              </a:ext>
            </a:extLst>
          </p:cNvPr>
          <p:cNvSpPr>
            <a:spLocks noGrp="1"/>
          </p:cNvSpPr>
          <p:nvPr>
            <p:ph type="sldNum" sz="quarter" idx="12"/>
          </p:nvPr>
        </p:nvSpPr>
        <p:spPr>
          <a:xfrm>
            <a:off x="8849106" y="6650966"/>
            <a:ext cx="294894" cy="16893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60824B-427F-0546-8E63-CCBFBFE2F314}" type="slidenum">
              <a:rPr kumimoji="0" lang="en-US" sz="8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2480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1275F1-A85F-9FD7-5B33-B534E4200DC8}"/>
              </a:ext>
            </a:extLst>
          </p:cNvPr>
          <p:cNvSpPr>
            <a:spLocks noGrp="1"/>
          </p:cNvSpPr>
          <p:nvPr>
            <p:ph type="sldNum" sz="quarter" idx="12"/>
          </p:nvPr>
        </p:nvSpPr>
        <p:spPr/>
        <p:txBody>
          <a:bodyPr/>
          <a:lstStyle/>
          <a:p>
            <a:fld id="{11F47A36-4E31-4C8F-8AE7-9186BF60ECD9}" type="slidenum">
              <a:rPr lang="en-US" smtClean="0"/>
              <a:t>2</a:t>
            </a:fld>
            <a:endParaRPr lang="en-US"/>
          </a:p>
        </p:txBody>
      </p:sp>
      <p:sp>
        <p:nvSpPr>
          <p:cNvPr id="9" name="Title 1">
            <a:extLst>
              <a:ext uri="{FF2B5EF4-FFF2-40B4-BE49-F238E27FC236}">
                <a16:creationId xmlns:a16="http://schemas.microsoft.com/office/drawing/2014/main" id="{FD02FD3E-60FE-7C9D-9E7D-E20A278017E6}"/>
              </a:ext>
            </a:extLst>
          </p:cNvPr>
          <p:cNvSpPr>
            <a:spLocks noGrp="1"/>
          </p:cNvSpPr>
          <p:nvPr>
            <p:ph type="title"/>
          </p:nvPr>
        </p:nvSpPr>
        <p:spPr>
          <a:xfrm>
            <a:off x="250903" y="52801"/>
            <a:ext cx="8578772" cy="556801"/>
          </a:xfrm>
        </p:spPr>
        <p:txBody>
          <a:bodyPr vert="horz" lIns="91440" tIns="45720" rIns="91440" bIns="45720" rtlCol="0" anchor="ctr">
            <a:normAutofit/>
          </a:bodyPr>
          <a:lstStyle/>
          <a:p>
            <a:pPr algn="ctr"/>
            <a:r>
              <a:rPr lang="en-US" sz="2400">
                <a:solidFill>
                  <a:srgbClr val="0076BD"/>
                </a:solidFill>
              </a:rPr>
              <a:t>April 2026 – Quality Dashboard – </a:t>
            </a:r>
            <a:r>
              <a:rPr lang="en-US" sz="2400">
                <a:solidFill>
                  <a:srgbClr val="0070C0"/>
                </a:solidFill>
              </a:rPr>
              <a:t>Highland</a:t>
            </a:r>
            <a:endParaRPr lang="en-US" sz="2400">
              <a:solidFill>
                <a:srgbClr val="0076BD"/>
              </a:solidFill>
            </a:endParaRPr>
          </a:p>
        </p:txBody>
      </p:sp>
      <p:sp>
        <p:nvSpPr>
          <p:cNvPr id="3" name="Content Placeholder 2">
            <a:extLst>
              <a:ext uri="{FF2B5EF4-FFF2-40B4-BE49-F238E27FC236}">
                <a16:creationId xmlns:a16="http://schemas.microsoft.com/office/drawing/2014/main" id="{9FFE5AAF-587B-FD0C-6EBA-5CCAD148901F}"/>
              </a:ext>
            </a:extLst>
          </p:cNvPr>
          <p:cNvSpPr txBox="1">
            <a:spLocks/>
          </p:cNvSpPr>
          <p:nvPr/>
        </p:nvSpPr>
        <p:spPr bwMode="auto">
          <a:xfrm>
            <a:off x="250902" y="5277208"/>
            <a:ext cx="8775651" cy="1347632"/>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a:latin typeface="Arial"/>
                <a:ea typeface="+mn-lt"/>
                <a:cs typeface="Arial"/>
              </a:rPr>
              <a:t>We saw increases in overall satisfaction, the safety and security score, patient involvement in treatment planning/goals, and the NPS score. Survey return rate declined by 2%, primarily due to AMAs and refusals.</a:t>
            </a:r>
          </a:p>
          <a:p>
            <a:r>
              <a:rPr lang="en-US" sz="1050">
                <a:latin typeface="Arial"/>
                <a:ea typeface="+mn-lt"/>
                <a:cs typeface="Arial"/>
              </a:rPr>
              <a:t>The elopement incident occurred during intake. The patient’s mother called 911 and then removed her child against medical advice from intake.</a:t>
            </a:r>
            <a:endParaRPr lang="en-US">
              <a:cs typeface="Arial"/>
            </a:endParaRPr>
          </a:p>
          <a:p>
            <a:r>
              <a:rPr lang="en-US" sz="1050">
                <a:latin typeface="Arial"/>
                <a:cs typeface="Arial"/>
              </a:rPr>
              <a:t>Physical aggression rose compared to the prior month, largely driven by chronic patients. In response, any patient exhibiting aggression requiring restraint or seclusion is now placed on an immediate behavior support plan.</a:t>
            </a:r>
            <a:endParaRPr lang="en-US"/>
          </a:p>
          <a:p>
            <a:r>
              <a:rPr lang="en-US" sz="1050">
                <a:latin typeface="Arial"/>
                <a:cs typeface="Arial"/>
              </a:rPr>
              <a:t>AMAs and ATDs decreased compared to the prior month.</a:t>
            </a:r>
            <a:endParaRPr lang="en-US"/>
          </a:p>
          <a:p>
            <a:endParaRPr lang="en-US" sz="1050">
              <a:latin typeface="Arial"/>
              <a:ea typeface="Calibri"/>
              <a:cs typeface="Calibri"/>
            </a:endParaRPr>
          </a:p>
        </p:txBody>
      </p:sp>
      <p:pic>
        <p:nvPicPr>
          <p:cNvPr id="12" name="Picture 11">
            <a:extLst>
              <a:ext uri="{FF2B5EF4-FFF2-40B4-BE49-F238E27FC236}">
                <a16:creationId xmlns:a16="http://schemas.microsoft.com/office/drawing/2014/main" id="{15629FBB-CC73-30C2-5773-6B003223C58D}"/>
              </a:ext>
            </a:extLst>
          </p:cNvPr>
          <p:cNvPicPr>
            <a:picLocks noChangeAspect="1"/>
          </p:cNvPicPr>
          <p:nvPr/>
        </p:nvPicPr>
        <p:blipFill>
          <a:blip r:embed="rId2"/>
          <a:stretch>
            <a:fillRect/>
          </a:stretch>
        </p:blipFill>
        <p:spPr>
          <a:xfrm>
            <a:off x="0" y="866789"/>
            <a:ext cx="9144000" cy="626967"/>
          </a:xfrm>
          <a:prstGeom prst="rect">
            <a:avLst/>
          </a:prstGeom>
        </p:spPr>
      </p:pic>
      <p:pic>
        <p:nvPicPr>
          <p:cNvPr id="13" name="Picture 12" descr="A calendar with numbers and a date&#10;&#10;AI-generated content may be incorrect.">
            <a:extLst>
              <a:ext uri="{FF2B5EF4-FFF2-40B4-BE49-F238E27FC236}">
                <a16:creationId xmlns:a16="http://schemas.microsoft.com/office/drawing/2014/main" id="{298BEBA1-A81A-A58F-C977-3B058551B3B2}"/>
              </a:ext>
            </a:extLst>
          </p:cNvPr>
          <p:cNvPicPr>
            <a:picLocks noChangeAspect="1"/>
          </p:cNvPicPr>
          <p:nvPr/>
        </p:nvPicPr>
        <p:blipFill>
          <a:blip r:embed="rId3"/>
          <a:stretch>
            <a:fillRect/>
          </a:stretch>
        </p:blipFill>
        <p:spPr>
          <a:xfrm>
            <a:off x="0" y="1492885"/>
            <a:ext cx="9144000" cy="1064591"/>
          </a:xfrm>
          <a:prstGeom prst="rect">
            <a:avLst/>
          </a:prstGeom>
        </p:spPr>
      </p:pic>
      <p:pic>
        <p:nvPicPr>
          <p:cNvPr id="15" name="Picture 14">
            <a:extLst>
              <a:ext uri="{FF2B5EF4-FFF2-40B4-BE49-F238E27FC236}">
                <a16:creationId xmlns:a16="http://schemas.microsoft.com/office/drawing/2014/main" id="{B28E17EF-F91D-1F40-CAAF-2C3A3F1FF64D}"/>
              </a:ext>
            </a:extLst>
          </p:cNvPr>
          <p:cNvPicPr>
            <a:picLocks noChangeAspect="1"/>
          </p:cNvPicPr>
          <p:nvPr/>
        </p:nvPicPr>
        <p:blipFill>
          <a:blip r:embed="rId4"/>
          <a:stretch>
            <a:fillRect/>
          </a:stretch>
        </p:blipFill>
        <p:spPr>
          <a:xfrm>
            <a:off x="0" y="2632310"/>
            <a:ext cx="9144000" cy="534763"/>
          </a:xfrm>
          <a:prstGeom prst="rect">
            <a:avLst/>
          </a:prstGeom>
        </p:spPr>
      </p:pic>
      <p:pic>
        <p:nvPicPr>
          <p:cNvPr id="17" name="Picture 16">
            <a:extLst>
              <a:ext uri="{FF2B5EF4-FFF2-40B4-BE49-F238E27FC236}">
                <a16:creationId xmlns:a16="http://schemas.microsoft.com/office/drawing/2014/main" id="{51759D08-5DE0-3D05-FE49-98C3B595D348}"/>
              </a:ext>
            </a:extLst>
          </p:cNvPr>
          <p:cNvPicPr>
            <a:picLocks noChangeAspect="1"/>
          </p:cNvPicPr>
          <p:nvPr/>
        </p:nvPicPr>
        <p:blipFill>
          <a:blip r:embed="rId5"/>
          <a:stretch>
            <a:fillRect/>
          </a:stretch>
        </p:blipFill>
        <p:spPr>
          <a:xfrm>
            <a:off x="0" y="3261058"/>
            <a:ext cx="9144000" cy="335884"/>
          </a:xfrm>
          <a:prstGeom prst="rect">
            <a:avLst/>
          </a:prstGeom>
        </p:spPr>
      </p:pic>
      <p:pic>
        <p:nvPicPr>
          <p:cNvPr id="18" name="Picture 17">
            <a:extLst>
              <a:ext uri="{FF2B5EF4-FFF2-40B4-BE49-F238E27FC236}">
                <a16:creationId xmlns:a16="http://schemas.microsoft.com/office/drawing/2014/main" id="{6E9E7C5A-0457-EB17-5370-31853A748A37}"/>
              </a:ext>
            </a:extLst>
          </p:cNvPr>
          <p:cNvPicPr>
            <a:picLocks noChangeAspect="1"/>
          </p:cNvPicPr>
          <p:nvPr/>
        </p:nvPicPr>
        <p:blipFill>
          <a:blip r:embed="rId6"/>
          <a:stretch>
            <a:fillRect/>
          </a:stretch>
        </p:blipFill>
        <p:spPr>
          <a:xfrm>
            <a:off x="0" y="3683212"/>
            <a:ext cx="9144000" cy="365584"/>
          </a:xfrm>
          <a:prstGeom prst="rect">
            <a:avLst/>
          </a:prstGeom>
        </p:spPr>
      </p:pic>
      <p:pic>
        <p:nvPicPr>
          <p:cNvPr id="20" name="Picture 19" descr="A close-up of a name tag&#10;&#10;AI-generated content may be incorrect.">
            <a:extLst>
              <a:ext uri="{FF2B5EF4-FFF2-40B4-BE49-F238E27FC236}">
                <a16:creationId xmlns:a16="http://schemas.microsoft.com/office/drawing/2014/main" id="{B673FB33-97F7-8286-1FE9-B871504B8686}"/>
              </a:ext>
            </a:extLst>
          </p:cNvPr>
          <p:cNvPicPr>
            <a:picLocks noChangeAspect="1"/>
          </p:cNvPicPr>
          <p:nvPr/>
        </p:nvPicPr>
        <p:blipFill>
          <a:blip r:embed="rId7"/>
          <a:stretch>
            <a:fillRect/>
          </a:stretch>
        </p:blipFill>
        <p:spPr>
          <a:xfrm>
            <a:off x="0" y="4137358"/>
            <a:ext cx="9144000" cy="255591"/>
          </a:xfrm>
          <a:prstGeom prst="rect">
            <a:avLst/>
          </a:prstGeom>
        </p:spPr>
      </p:pic>
      <p:pic>
        <p:nvPicPr>
          <p:cNvPr id="21" name="Picture 20">
            <a:extLst>
              <a:ext uri="{FF2B5EF4-FFF2-40B4-BE49-F238E27FC236}">
                <a16:creationId xmlns:a16="http://schemas.microsoft.com/office/drawing/2014/main" id="{17C34E04-6122-4E7F-4C73-0CAA2E39988E}"/>
              </a:ext>
            </a:extLst>
          </p:cNvPr>
          <p:cNvPicPr>
            <a:picLocks noChangeAspect="1"/>
          </p:cNvPicPr>
          <p:nvPr/>
        </p:nvPicPr>
        <p:blipFill>
          <a:blip r:embed="rId8"/>
          <a:stretch>
            <a:fillRect/>
          </a:stretch>
        </p:blipFill>
        <p:spPr>
          <a:xfrm>
            <a:off x="0" y="4495483"/>
            <a:ext cx="9144000" cy="774229"/>
          </a:xfrm>
          <a:prstGeom prst="rect">
            <a:avLst/>
          </a:prstGeom>
        </p:spPr>
      </p:pic>
    </p:spTree>
    <p:extLst>
      <p:ext uri="{BB962C8B-B14F-4D97-AF65-F5344CB8AC3E}">
        <p14:creationId xmlns:p14="http://schemas.microsoft.com/office/powerpoint/2010/main" val="4174359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B6126-A371-C128-2C68-5D22FDC44BC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161736-AFE0-D2B2-3B46-2C74A19B6579}"/>
              </a:ext>
            </a:extLst>
          </p:cNvPr>
          <p:cNvSpPr>
            <a:spLocks noGrp="1"/>
          </p:cNvSpPr>
          <p:nvPr>
            <p:ph type="sldNum" sz="quarter" idx="12"/>
          </p:nvPr>
        </p:nvSpPr>
        <p:spPr/>
        <p:txBody>
          <a:bodyPr/>
          <a:lstStyle/>
          <a:p>
            <a:fld id="{11F47A36-4E31-4C8F-8AE7-9186BF60ECD9}" type="slidenum">
              <a:rPr lang="en-US" smtClean="0"/>
              <a:t>3</a:t>
            </a:fld>
            <a:endParaRPr lang="en-US"/>
          </a:p>
        </p:txBody>
      </p:sp>
      <p:sp>
        <p:nvSpPr>
          <p:cNvPr id="9" name="Title 1">
            <a:extLst>
              <a:ext uri="{FF2B5EF4-FFF2-40B4-BE49-F238E27FC236}">
                <a16:creationId xmlns:a16="http://schemas.microsoft.com/office/drawing/2014/main" id="{0138DAEB-12E1-6B2C-9B19-69738EF6C3E7}"/>
              </a:ext>
            </a:extLst>
          </p:cNvPr>
          <p:cNvSpPr>
            <a:spLocks noGrp="1"/>
          </p:cNvSpPr>
          <p:nvPr>
            <p:ph type="title"/>
          </p:nvPr>
        </p:nvSpPr>
        <p:spPr>
          <a:xfrm>
            <a:off x="250903" y="52801"/>
            <a:ext cx="8578772" cy="556801"/>
          </a:xfrm>
        </p:spPr>
        <p:txBody>
          <a:bodyPr vert="horz" lIns="91440" tIns="45720" rIns="91440" bIns="45720" rtlCol="0" anchor="ctr">
            <a:normAutofit/>
          </a:bodyPr>
          <a:lstStyle/>
          <a:p>
            <a:pPr algn="ctr"/>
            <a:r>
              <a:rPr lang="en-US" sz="2400">
                <a:solidFill>
                  <a:srgbClr val="0076BD"/>
                </a:solidFill>
              </a:rPr>
              <a:t>April 2026 – Quality Dashboard – </a:t>
            </a:r>
            <a:r>
              <a:rPr lang="en-US" sz="2400">
                <a:solidFill>
                  <a:srgbClr val="0070C0"/>
                </a:solidFill>
              </a:rPr>
              <a:t>Highland</a:t>
            </a:r>
            <a:endParaRPr lang="en-US" sz="2400">
              <a:solidFill>
                <a:srgbClr val="0076BD"/>
              </a:solidFill>
            </a:endParaRPr>
          </a:p>
        </p:txBody>
      </p:sp>
      <p:sp>
        <p:nvSpPr>
          <p:cNvPr id="3" name="Content Placeholder 2">
            <a:extLst>
              <a:ext uri="{FF2B5EF4-FFF2-40B4-BE49-F238E27FC236}">
                <a16:creationId xmlns:a16="http://schemas.microsoft.com/office/drawing/2014/main" id="{5752C359-132E-7435-640B-E8FFBAB3D846}"/>
              </a:ext>
            </a:extLst>
          </p:cNvPr>
          <p:cNvSpPr txBox="1">
            <a:spLocks/>
          </p:cNvSpPr>
          <p:nvPr/>
        </p:nvSpPr>
        <p:spPr bwMode="auto">
          <a:xfrm>
            <a:off x="253678" y="4390444"/>
            <a:ext cx="8578771" cy="1434843"/>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400">
              <a:spcBef>
                <a:spcPts val="400"/>
              </a:spcBef>
              <a:defRPr/>
            </a:pPr>
            <a:r>
              <a:rPr lang="en-US" sz="1050">
                <a:latin typeface="Arial"/>
                <a:cs typeface="Arial"/>
              </a:rPr>
              <a:t>All indicators improved to 100% compliance in April. This is a result of continued education and follow-up with staff.</a:t>
            </a:r>
          </a:p>
          <a:p>
            <a:pPr marL="0" indent="0" defTabSz="914400">
              <a:spcBef>
                <a:spcPts val="400"/>
              </a:spcBef>
              <a:buNone/>
              <a:defRPr/>
            </a:pPr>
            <a:endParaRPr lang="en-US" sz="1050">
              <a:solidFill>
                <a:prstClr val="black"/>
              </a:solidFill>
              <a:latin typeface="+mn-lt"/>
            </a:endParaRPr>
          </a:p>
        </p:txBody>
      </p:sp>
      <p:pic>
        <p:nvPicPr>
          <p:cNvPr id="5" name="Picture 4" descr="A table with numbers and a number of percentages&#10;&#10;AI-generated content may be incorrect.">
            <a:extLst>
              <a:ext uri="{FF2B5EF4-FFF2-40B4-BE49-F238E27FC236}">
                <a16:creationId xmlns:a16="http://schemas.microsoft.com/office/drawing/2014/main" id="{5C646825-98BC-9668-CA99-0BADD9B75D3A}"/>
              </a:ext>
            </a:extLst>
          </p:cNvPr>
          <p:cNvPicPr>
            <a:picLocks noChangeAspect="1"/>
          </p:cNvPicPr>
          <p:nvPr/>
        </p:nvPicPr>
        <p:blipFill>
          <a:blip r:embed="rId2"/>
          <a:stretch>
            <a:fillRect/>
          </a:stretch>
        </p:blipFill>
        <p:spPr>
          <a:xfrm>
            <a:off x="0" y="1100415"/>
            <a:ext cx="9144000" cy="2800755"/>
          </a:xfrm>
          <a:prstGeom prst="rect">
            <a:avLst/>
          </a:prstGeom>
        </p:spPr>
      </p:pic>
    </p:spTree>
    <p:extLst>
      <p:ext uri="{BB962C8B-B14F-4D97-AF65-F5344CB8AC3E}">
        <p14:creationId xmlns:p14="http://schemas.microsoft.com/office/powerpoint/2010/main" val="241361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0BAC-D6B3-F2C0-77A0-B576CCC056A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857239-94F0-ADD9-E31F-311F9E6CDAD0}"/>
              </a:ext>
            </a:extLst>
          </p:cNvPr>
          <p:cNvSpPr>
            <a:spLocks noGrp="1"/>
          </p:cNvSpPr>
          <p:nvPr>
            <p:ph type="sldNum" sz="quarter" idx="12"/>
          </p:nvPr>
        </p:nvSpPr>
        <p:spPr/>
        <p:txBody>
          <a:bodyPr/>
          <a:lstStyle/>
          <a:p>
            <a:fld id="{11F47A36-4E31-4C8F-8AE7-9186BF60ECD9}" type="slidenum">
              <a:rPr lang="en-US" smtClean="0"/>
              <a:t>4</a:t>
            </a:fld>
            <a:endParaRPr lang="en-US"/>
          </a:p>
        </p:txBody>
      </p:sp>
      <p:sp>
        <p:nvSpPr>
          <p:cNvPr id="9" name="Title 1">
            <a:extLst>
              <a:ext uri="{FF2B5EF4-FFF2-40B4-BE49-F238E27FC236}">
                <a16:creationId xmlns:a16="http://schemas.microsoft.com/office/drawing/2014/main" id="{899DBD3C-9746-F14F-8C7F-B83521907798}"/>
              </a:ext>
            </a:extLst>
          </p:cNvPr>
          <p:cNvSpPr>
            <a:spLocks noGrp="1"/>
          </p:cNvSpPr>
          <p:nvPr>
            <p:ph type="title"/>
          </p:nvPr>
        </p:nvSpPr>
        <p:spPr>
          <a:xfrm>
            <a:off x="250903" y="52801"/>
            <a:ext cx="8578772" cy="556801"/>
          </a:xfrm>
        </p:spPr>
        <p:txBody>
          <a:bodyPr vert="horz" lIns="91440" tIns="45720" rIns="91440" bIns="45720" rtlCol="0" anchor="ctr">
            <a:normAutofit/>
          </a:bodyPr>
          <a:lstStyle/>
          <a:p>
            <a:pPr algn="ctr"/>
            <a:r>
              <a:rPr lang="en-US" sz="2400">
                <a:solidFill>
                  <a:srgbClr val="0076BD"/>
                </a:solidFill>
              </a:rPr>
              <a:t>April 2026 – Quality Dashboard – </a:t>
            </a:r>
            <a:r>
              <a:rPr lang="en-US" sz="2400">
                <a:solidFill>
                  <a:srgbClr val="0070C0"/>
                </a:solidFill>
              </a:rPr>
              <a:t>Highland</a:t>
            </a:r>
            <a:endParaRPr lang="en-US" sz="2400">
              <a:solidFill>
                <a:srgbClr val="0076BD"/>
              </a:solidFill>
            </a:endParaRPr>
          </a:p>
        </p:txBody>
      </p:sp>
      <p:sp>
        <p:nvSpPr>
          <p:cNvPr id="2" name="Content Placeholder 2">
            <a:extLst>
              <a:ext uri="{FF2B5EF4-FFF2-40B4-BE49-F238E27FC236}">
                <a16:creationId xmlns:a16="http://schemas.microsoft.com/office/drawing/2014/main" id="{4628F8DA-9EAA-38DA-C570-5C57375445D0}"/>
              </a:ext>
            </a:extLst>
          </p:cNvPr>
          <p:cNvSpPr txBox="1">
            <a:spLocks/>
          </p:cNvSpPr>
          <p:nvPr/>
        </p:nvSpPr>
        <p:spPr bwMode="auto">
          <a:xfrm>
            <a:off x="628650" y="5695539"/>
            <a:ext cx="8382999" cy="1018265"/>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50">
                <a:latin typeface="Arial"/>
                <a:cs typeface="Arial"/>
              </a:rPr>
              <a:t>Compliance remained strong overall, with most indicators meeting or exceeding the 95% target. In April, all metrics achieved 100% except for medication orders authenticated within 48 hours (80%), psychiatric evaluations including the elements outlined in UR medical necessity oversight criteria (90%), and discharge summaries that include a recap of the patient’s admission (77.78%).</a:t>
            </a:r>
            <a:endParaRPr lang="en-US">
              <a:cs typeface="Arial" charset="0"/>
            </a:endParaRPr>
          </a:p>
          <a:p>
            <a:r>
              <a:rPr lang="en-US" sz="1050">
                <a:latin typeface="Arial"/>
                <a:cs typeface="Arial"/>
              </a:rPr>
              <a:t>Ongoing improvement efforts will focus on routine audits and sharing findings in meetings to strengthen accountability, track progress, and ensure sustained compliance. Provider trainings were also conducted in April to reinforce documentation standards and support improvement in these areas.</a:t>
            </a:r>
            <a:endParaRPr lang="en-US">
              <a:cs typeface="Arial" charset="0"/>
            </a:endParaRPr>
          </a:p>
          <a:p>
            <a:pPr marL="0" indent="0">
              <a:buNone/>
            </a:pPr>
            <a:endParaRPr lang="en-US" sz="1050">
              <a:latin typeface="Arial"/>
              <a:ea typeface="+mn-lt"/>
              <a:cs typeface="Arial"/>
            </a:endParaRPr>
          </a:p>
        </p:txBody>
      </p:sp>
      <p:pic>
        <p:nvPicPr>
          <p:cNvPr id="3" name="Picture 2" descr="A screenshot of a chart&#10;&#10;AI-generated content may be incorrect.">
            <a:extLst>
              <a:ext uri="{FF2B5EF4-FFF2-40B4-BE49-F238E27FC236}">
                <a16:creationId xmlns:a16="http://schemas.microsoft.com/office/drawing/2014/main" id="{26BFFD3D-9FF4-808A-779F-280A195F8299}"/>
              </a:ext>
            </a:extLst>
          </p:cNvPr>
          <p:cNvPicPr>
            <a:picLocks noChangeAspect="1"/>
          </p:cNvPicPr>
          <p:nvPr/>
        </p:nvPicPr>
        <p:blipFill>
          <a:blip r:embed="rId2"/>
          <a:stretch>
            <a:fillRect/>
          </a:stretch>
        </p:blipFill>
        <p:spPr>
          <a:xfrm>
            <a:off x="0" y="671353"/>
            <a:ext cx="9144000" cy="5024340"/>
          </a:xfrm>
          <a:prstGeom prst="rect">
            <a:avLst/>
          </a:prstGeom>
        </p:spPr>
      </p:pic>
    </p:spTree>
    <p:extLst>
      <p:ext uri="{BB962C8B-B14F-4D97-AF65-F5344CB8AC3E}">
        <p14:creationId xmlns:p14="http://schemas.microsoft.com/office/powerpoint/2010/main" val="182701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4229C-27CD-E354-B380-DD2AB62FC8F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D88576-C769-2F05-AAE2-E05214807BB5}"/>
              </a:ext>
            </a:extLst>
          </p:cNvPr>
          <p:cNvSpPr>
            <a:spLocks noGrp="1"/>
          </p:cNvSpPr>
          <p:nvPr>
            <p:ph type="sldNum" sz="quarter" idx="12"/>
          </p:nvPr>
        </p:nvSpPr>
        <p:spPr/>
        <p:txBody>
          <a:bodyPr/>
          <a:lstStyle/>
          <a:p>
            <a:fld id="{11F47A36-4E31-4C8F-8AE7-9186BF60ECD9}" type="slidenum">
              <a:rPr lang="en-US" smtClean="0"/>
              <a:t>5</a:t>
            </a:fld>
            <a:endParaRPr lang="en-US"/>
          </a:p>
        </p:txBody>
      </p:sp>
      <p:sp>
        <p:nvSpPr>
          <p:cNvPr id="9" name="Title 1">
            <a:extLst>
              <a:ext uri="{FF2B5EF4-FFF2-40B4-BE49-F238E27FC236}">
                <a16:creationId xmlns:a16="http://schemas.microsoft.com/office/drawing/2014/main" id="{72EC5913-9127-B0D0-2AB4-FB7A47AD7075}"/>
              </a:ext>
            </a:extLst>
          </p:cNvPr>
          <p:cNvSpPr>
            <a:spLocks noGrp="1"/>
          </p:cNvSpPr>
          <p:nvPr>
            <p:ph type="title"/>
          </p:nvPr>
        </p:nvSpPr>
        <p:spPr>
          <a:xfrm>
            <a:off x="250903" y="52801"/>
            <a:ext cx="8578772" cy="556801"/>
          </a:xfrm>
        </p:spPr>
        <p:txBody>
          <a:bodyPr vert="horz" lIns="91440" tIns="45720" rIns="91440" bIns="45720" rtlCol="0" anchor="ctr">
            <a:normAutofit/>
          </a:bodyPr>
          <a:lstStyle/>
          <a:p>
            <a:pPr algn="ctr"/>
            <a:r>
              <a:rPr lang="en-US" sz="2400">
                <a:solidFill>
                  <a:srgbClr val="0076BD"/>
                </a:solidFill>
              </a:rPr>
              <a:t>April 2026 – Quality Dashboard – </a:t>
            </a:r>
            <a:r>
              <a:rPr lang="en-US" sz="2400">
                <a:solidFill>
                  <a:srgbClr val="0070C0"/>
                </a:solidFill>
              </a:rPr>
              <a:t>Highland</a:t>
            </a:r>
            <a:endParaRPr lang="en-US" sz="2400">
              <a:solidFill>
                <a:srgbClr val="0076BD"/>
              </a:solidFill>
            </a:endParaRPr>
          </a:p>
        </p:txBody>
      </p:sp>
      <p:sp>
        <p:nvSpPr>
          <p:cNvPr id="3" name="Content Placeholder 2">
            <a:extLst>
              <a:ext uri="{FF2B5EF4-FFF2-40B4-BE49-F238E27FC236}">
                <a16:creationId xmlns:a16="http://schemas.microsoft.com/office/drawing/2014/main" id="{4ED9232A-714F-2DE8-479B-B248A6CD00FE}"/>
              </a:ext>
            </a:extLst>
          </p:cNvPr>
          <p:cNvSpPr txBox="1">
            <a:spLocks/>
          </p:cNvSpPr>
          <p:nvPr/>
        </p:nvSpPr>
        <p:spPr bwMode="auto">
          <a:xfrm>
            <a:off x="628650" y="5728738"/>
            <a:ext cx="8432431" cy="819437"/>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a:solidFill>
                  <a:prstClr val="black"/>
                </a:solidFill>
                <a:latin typeface="Arial"/>
                <a:cs typeface="Arial"/>
              </a:rPr>
              <a:t>All metrics achieved 100% compliance, except for obtaining the patient’s signature within 72 hours of admission. In this case, the patient refused to sign, and the refusal was not documented in a timely manner.</a:t>
            </a:r>
            <a:endParaRPr lang="en-US">
              <a:solidFill>
                <a:prstClr val="black"/>
              </a:solidFill>
              <a:cs typeface="Arial" charset="0"/>
            </a:endParaRPr>
          </a:p>
          <a:p>
            <a:r>
              <a:rPr lang="en-US" sz="1000">
                <a:solidFill>
                  <a:prstClr val="black"/>
                </a:solidFill>
                <a:latin typeface="Arial"/>
                <a:cs typeface="Arial"/>
              </a:rPr>
              <a:t>Overall, these results reflect strong adherence to documentation standards and demonstrate the effectiveness of staff training and re-education efforts over the past several months.</a:t>
            </a:r>
            <a:endParaRPr lang="en-US">
              <a:solidFill>
                <a:prstClr val="black"/>
              </a:solidFill>
              <a:cs typeface="Arial" charset="0"/>
            </a:endParaRPr>
          </a:p>
          <a:p>
            <a:pPr marL="0" indent="0">
              <a:spcBef>
                <a:spcPts val="400"/>
              </a:spcBef>
              <a:spcAft>
                <a:spcPts val="0"/>
              </a:spcAft>
              <a:buNone/>
            </a:pPr>
            <a:endParaRPr lang="en-US" sz="1000" b="0" i="0" u="none" strike="noStrike" kern="1200" cap="none" spc="0" normalizeH="0" baseline="0" noProof="0">
              <a:ln>
                <a:noFill/>
              </a:ln>
              <a:solidFill>
                <a:prstClr val="black"/>
              </a:solidFill>
              <a:effectLst/>
              <a:uLnTx/>
              <a:uFillTx/>
              <a:latin typeface="Arial"/>
              <a:cs typeface="Arial"/>
            </a:endParaRPr>
          </a:p>
        </p:txBody>
      </p:sp>
      <p:pic>
        <p:nvPicPr>
          <p:cNvPr id="2" name="Picture 1">
            <a:extLst>
              <a:ext uri="{FF2B5EF4-FFF2-40B4-BE49-F238E27FC236}">
                <a16:creationId xmlns:a16="http://schemas.microsoft.com/office/drawing/2014/main" id="{9EDAB9EC-6D90-CAFC-69A2-173DF849E72C}"/>
              </a:ext>
            </a:extLst>
          </p:cNvPr>
          <p:cNvPicPr>
            <a:picLocks noChangeAspect="1"/>
          </p:cNvPicPr>
          <p:nvPr/>
        </p:nvPicPr>
        <p:blipFill>
          <a:blip r:embed="rId2"/>
          <a:stretch>
            <a:fillRect/>
          </a:stretch>
        </p:blipFill>
        <p:spPr>
          <a:xfrm>
            <a:off x="478040" y="466503"/>
            <a:ext cx="8180249" cy="5257608"/>
          </a:xfrm>
          <a:prstGeom prst="rect">
            <a:avLst/>
          </a:prstGeom>
        </p:spPr>
      </p:pic>
    </p:spTree>
    <p:extLst>
      <p:ext uri="{BB962C8B-B14F-4D97-AF65-F5344CB8AC3E}">
        <p14:creationId xmlns:p14="http://schemas.microsoft.com/office/powerpoint/2010/main" val="1553533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1211-5699-7241-7388-FCA68CF5E4A2}"/>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EAD3E54-5E25-E7F6-505B-0A23FDD3129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53" imgH="353" progId="TCLayout.ActiveDocument.1">
                  <p:embed/>
                </p:oleObj>
              </mc:Choice>
              <mc:Fallback>
                <p:oleObj name="think-cell Slide" r:id="rId6" imgW="353" imgH="353" progId="TCLayout.ActiveDocument.1">
                  <p:embed/>
                  <p:pic>
                    <p:nvPicPr>
                      <p:cNvPr id="8" name="Object 7" hidden="1">
                        <a:extLst>
                          <a:ext uri="{FF2B5EF4-FFF2-40B4-BE49-F238E27FC236}">
                            <a16:creationId xmlns:a16="http://schemas.microsoft.com/office/drawing/2014/main" id="{9EAD3E54-5E25-E7F6-505B-0A23FDD3129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F7DD5AF1-78F7-9519-79B7-ED59B71A925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54BF30CE-EB6B-DC40-FED5-F58F57039F5F}"/>
              </a:ext>
            </a:extLst>
          </p:cNvPr>
          <p:cNvSpPr>
            <a:spLocks noGrp="1"/>
          </p:cNvSpPr>
          <p:nvPr>
            <p:ph type="title"/>
          </p:nvPr>
        </p:nvSpPr>
        <p:spPr/>
        <p:txBody>
          <a:bodyPr vert="horz" lIns="91440" tIns="45720" rIns="91440" bIns="45720" rtlCol="0" anchor="ctr">
            <a:normAutofit/>
          </a:bodyPr>
          <a:lstStyle/>
          <a:p>
            <a:pPr algn="ctr"/>
            <a:r>
              <a:rPr lang="en-US"/>
              <a:t>April 2026 – Overview – Highland</a:t>
            </a:r>
          </a:p>
        </p:txBody>
      </p:sp>
      <p:sp>
        <p:nvSpPr>
          <p:cNvPr id="9" name="Slide Number Placeholder 1">
            <a:extLst>
              <a:ext uri="{FF2B5EF4-FFF2-40B4-BE49-F238E27FC236}">
                <a16:creationId xmlns:a16="http://schemas.microsoft.com/office/drawing/2014/main" id="{EE80CC05-D9A6-085C-2D3E-3E43DE9CF673}"/>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6</a:t>
            </a:fld>
            <a:endParaRPr lang="en-US"/>
          </a:p>
        </p:txBody>
      </p:sp>
      <p:pic>
        <p:nvPicPr>
          <p:cNvPr id="5" name="Picture 4">
            <a:extLst>
              <a:ext uri="{FF2B5EF4-FFF2-40B4-BE49-F238E27FC236}">
                <a16:creationId xmlns:a16="http://schemas.microsoft.com/office/drawing/2014/main" id="{A51B0D80-95F9-810F-508D-845CA4C9505E}"/>
              </a:ext>
            </a:extLst>
          </p:cNvPr>
          <p:cNvPicPr>
            <a:picLocks noChangeAspect="1"/>
          </p:cNvPicPr>
          <p:nvPr/>
        </p:nvPicPr>
        <p:blipFill>
          <a:blip r:embed="rId8"/>
          <a:stretch>
            <a:fillRect/>
          </a:stretch>
        </p:blipFill>
        <p:spPr>
          <a:xfrm>
            <a:off x="0" y="2688771"/>
            <a:ext cx="9144000" cy="1480457"/>
          </a:xfrm>
          <a:prstGeom prst="rect">
            <a:avLst/>
          </a:prstGeom>
        </p:spPr>
      </p:pic>
    </p:spTree>
    <p:extLst>
      <p:ext uri="{BB962C8B-B14F-4D97-AF65-F5344CB8AC3E}">
        <p14:creationId xmlns:p14="http://schemas.microsoft.com/office/powerpoint/2010/main" val="762705547"/>
      </p:ext>
    </p:extLst>
  </p:cSld>
  <p:clrMapOvr>
    <a:masterClrMapping/>
  </p:clrMapOvr>
  <p:extLst>
    <p:ext uri="{6950BFC3-D8DA-4A85-94F7-54DA5524770B}">
      <p188:commentRel xmlns:p188="http://schemas.microsoft.com/office/powerpoint/2018/8/main" r:id="rId5"/>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46DB-D068-FA38-BCF6-A2A39E534624}"/>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963C4D5-EA53-DA18-E69B-6CE904E027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9963C4D5-EA53-DA18-E69B-6CE904E0271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6AA6E6-5C0F-8D86-A982-8B679F8E1A4B}"/>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60462A96-1742-F0CD-DC1E-8931C63C20B0}"/>
              </a:ext>
            </a:extLst>
          </p:cNvPr>
          <p:cNvSpPr>
            <a:spLocks noGrp="1"/>
          </p:cNvSpPr>
          <p:nvPr>
            <p:ph type="title"/>
          </p:nvPr>
        </p:nvSpPr>
        <p:spPr/>
        <p:txBody>
          <a:bodyPr vert="horz" lIns="91440" tIns="45720" rIns="91440" bIns="45720" rtlCol="0" anchor="ctr">
            <a:normAutofit/>
          </a:bodyPr>
          <a:lstStyle/>
          <a:p>
            <a:pPr algn="ctr"/>
            <a:r>
              <a:rPr lang="en-US"/>
              <a:t>April 2026 – Volume – Highland</a:t>
            </a:r>
          </a:p>
        </p:txBody>
      </p:sp>
      <p:sp>
        <p:nvSpPr>
          <p:cNvPr id="9" name="Slide Number Placeholder 1">
            <a:extLst>
              <a:ext uri="{FF2B5EF4-FFF2-40B4-BE49-F238E27FC236}">
                <a16:creationId xmlns:a16="http://schemas.microsoft.com/office/drawing/2014/main" id="{02F98669-D08A-F5BB-0B31-EB102CE8CF1A}"/>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7</a:t>
            </a:fld>
            <a:endParaRPr lang="en-US"/>
          </a:p>
        </p:txBody>
      </p:sp>
      <p:pic>
        <p:nvPicPr>
          <p:cNvPr id="5" name="Picture 4">
            <a:extLst>
              <a:ext uri="{FF2B5EF4-FFF2-40B4-BE49-F238E27FC236}">
                <a16:creationId xmlns:a16="http://schemas.microsoft.com/office/drawing/2014/main" id="{72E58F04-2E60-6928-D5E1-CCB5AE47B9E3}"/>
              </a:ext>
            </a:extLst>
          </p:cNvPr>
          <p:cNvPicPr>
            <a:picLocks noChangeAspect="1"/>
          </p:cNvPicPr>
          <p:nvPr/>
        </p:nvPicPr>
        <p:blipFill>
          <a:blip r:embed="rId7"/>
          <a:stretch>
            <a:fillRect/>
          </a:stretch>
        </p:blipFill>
        <p:spPr>
          <a:xfrm>
            <a:off x="28575" y="823912"/>
            <a:ext cx="9086850" cy="5210175"/>
          </a:xfrm>
          <a:prstGeom prst="rect">
            <a:avLst/>
          </a:prstGeom>
        </p:spPr>
      </p:pic>
    </p:spTree>
    <p:extLst>
      <p:ext uri="{BB962C8B-B14F-4D97-AF65-F5344CB8AC3E}">
        <p14:creationId xmlns:p14="http://schemas.microsoft.com/office/powerpoint/2010/main" val="3304845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9435-003B-95CF-A448-8925F3FB7600}"/>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5BB8E874-313B-1081-3382-3BF79E7023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5BB8E874-313B-1081-3382-3BF79E7023A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E9AC6B4-EF25-BC02-C673-7D0F6FB8A92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ACB1431D-1301-7254-47B9-267C4891F089}"/>
              </a:ext>
            </a:extLst>
          </p:cNvPr>
          <p:cNvSpPr>
            <a:spLocks noGrp="1"/>
          </p:cNvSpPr>
          <p:nvPr>
            <p:ph type="title"/>
          </p:nvPr>
        </p:nvSpPr>
        <p:spPr/>
        <p:txBody>
          <a:bodyPr vert="horz" lIns="91440" tIns="45720" rIns="91440" bIns="45720" rtlCol="0" anchor="ctr">
            <a:normAutofit/>
          </a:bodyPr>
          <a:lstStyle/>
          <a:p>
            <a:pPr algn="ctr"/>
            <a:r>
              <a:rPr lang="en-US"/>
              <a:t>April 2026 – Volume – Highland</a:t>
            </a:r>
          </a:p>
        </p:txBody>
      </p:sp>
      <p:sp>
        <p:nvSpPr>
          <p:cNvPr id="9" name="Slide Number Placeholder 1">
            <a:extLst>
              <a:ext uri="{FF2B5EF4-FFF2-40B4-BE49-F238E27FC236}">
                <a16:creationId xmlns:a16="http://schemas.microsoft.com/office/drawing/2014/main" id="{18E13DBA-1843-ACF4-F8B2-4AFFC86EA736}"/>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8</a:t>
            </a:fld>
            <a:endParaRPr lang="en-US"/>
          </a:p>
        </p:txBody>
      </p:sp>
      <p:sp>
        <p:nvSpPr>
          <p:cNvPr id="10" name="Content Placeholder 2">
            <a:extLst>
              <a:ext uri="{FF2B5EF4-FFF2-40B4-BE49-F238E27FC236}">
                <a16:creationId xmlns:a16="http://schemas.microsoft.com/office/drawing/2014/main" id="{642E8762-49D8-58EB-1D66-05040E49D975}"/>
              </a:ext>
            </a:extLst>
          </p:cNvPr>
          <p:cNvSpPr txBox="1">
            <a:spLocks/>
          </p:cNvSpPr>
          <p:nvPr/>
        </p:nvSpPr>
        <p:spPr bwMode="auto">
          <a:xfrm>
            <a:off x="250903" y="4087326"/>
            <a:ext cx="8733754" cy="1983274"/>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1050">
                <a:solidFill>
                  <a:prstClr val="black"/>
                </a:solidFill>
                <a:latin typeface="+mn-lt"/>
              </a:rPr>
              <a:t>Admissions</a:t>
            </a:r>
            <a:endParaRPr lang="en-US">
              <a:solidFill>
                <a:prstClr val="black"/>
              </a:solidFill>
              <a:cs typeface="Arial"/>
            </a:endParaRPr>
          </a:p>
          <a:p>
            <a:pPr defTabSz="914400" eaLnBrk="1" fontAlgn="auto" hangingPunct="1">
              <a:spcBef>
                <a:spcPts val="400"/>
              </a:spcBef>
              <a:spcAft>
                <a:spcPts val="0"/>
              </a:spcAft>
              <a:defRPr/>
            </a:pP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Highland experienced </a:t>
            </a:r>
            <a:r>
              <a:rPr lang="en-US" sz="1050">
                <a:solidFill>
                  <a:prstClr val="black"/>
                </a:solidFill>
                <a:latin typeface="Calibri" panose="020F0502020204030204"/>
              </a:rPr>
              <a:t>an unfavorable</a:t>
            </a: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 budget variance in</a:t>
            </a:r>
            <a:r>
              <a:rPr lang="en-US" sz="1050">
                <a:solidFill>
                  <a:prstClr val="black"/>
                </a:solidFill>
                <a:latin typeface="Calibri" panose="020F0502020204030204"/>
              </a:rPr>
              <a:t> April </a:t>
            </a: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of</a:t>
            </a:r>
            <a:r>
              <a:rPr lang="en-US" sz="1050">
                <a:solidFill>
                  <a:prstClr val="black"/>
                </a:solidFill>
                <a:latin typeface="Calibri" panose="020F0502020204030204"/>
              </a:rPr>
              <a:t> 39 </a:t>
            </a: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admissions. </a:t>
            </a:r>
            <a:endParaRPr lang="en-US" sz="1050" b="0" i="0" u="none" strike="noStrike" kern="1200" cap="none" spc="0" normalizeH="0" baseline="0" noProof="0">
              <a:ln>
                <a:noFill/>
              </a:ln>
              <a:solidFill>
                <a:prstClr val="black"/>
              </a:solidFill>
              <a:effectLst/>
              <a:uLnTx/>
              <a:uFillTx/>
              <a:latin typeface="Calibri" panose="020F0502020204030204"/>
              <a:ea typeface="Calibri"/>
              <a:cs typeface="Calibri"/>
            </a:endParaRPr>
          </a:p>
          <a:p>
            <a:pPr defTabSz="914400" eaLnBrk="1" fontAlgn="auto" hangingPunct="1">
              <a:spcBef>
                <a:spcPts val="400"/>
              </a:spcBef>
              <a:spcAft>
                <a:spcPts val="0"/>
              </a:spcAft>
              <a:defRPr/>
            </a:pPr>
            <a:r>
              <a:rPr lang="en-US" sz="1050">
                <a:solidFill>
                  <a:prstClr val="black"/>
                </a:solidFill>
                <a:latin typeface="Calibri" panose="020F0502020204030204"/>
              </a:rPr>
              <a:t>A</a:t>
            </a: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cute admits had </a:t>
            </a:r>
            <a:r>
              <a:rPr lang="en-US" sz="1050">
                <a:solidFill>
                  <a:prstClr val="black"/>
                </a:solidFill>
                <a:latin typeface="Calibri" panose="020F0502020204030204"/>
              </a:rPr>
              <a:t>an unfavorable</a:t>
            </a:r>
            <a:r>
              <a:rPr kumimoji="0" lang="en-US" sz="1050" b="0" i="0" u="none" strike="noStrike" kern="1200" cap="none" spc="0" normalizeH="0" baseline="0" noProof="0">
                <a:ln>
                  <a:noFill/>
                </a:ln>
                <a:solidFill>
                  <a:prstClr val="black"/>
                </a:solidFill>
                <a:effectLst/>
                <a:uLnTx/>
                <a:uFillTx/>
                <a:latin typeface="Calibri" panose="020F0502020204030204"/>
                <a:ea typeface="+mn-ea"/>
                <a:cs typeface="+mn-cs"/>
              </a:rPr>
              <a:t> </a:t>
            </a:r>
            <a:r>
              <a:rPr lang="en-US" sz="1050">
                <a:solidFill>
                  <a:prstClr val="black"/>
                </a:solidFill>
                <a:latin typeface="Calibri" panose="020F0502020204030204"/>
              </a:rPr>
              <a:t>variance to budget of 29 and Detox had an unfavorable variance of 10.</a:t>
            </a:r>
            <a:endParaRPr lang="en-US" sz="1050">
              <a:solidFill>
                <a:prstClr val="black"/>
              </a:solidFill>
              <a:latin typeface="Calibri" panose="020F0502020204030204"/>
              <a:ea typeface="Calibri"/>
              <a:cs typeface="Calibri"/>
            </a:endParaRPr>
          </a:p>
          <a:p>
            <a:pPr defTabSz="914400" eaLnBrk="1" fontAlgn="auto" hangingPunct="1">
              <a:spcBef>
                <a:spcPts val="400"/>
              </a:spcBef>
              <a:spcAft>
                <a:spcPts val="0"/>
              </a:spcAft>
              <a:defRPr/>
            </a:pPr>
            <a:r>
              <a:rPr lang="en-US" sz="1050">
                <a:solidFill>
                  <a:prstClr val="black"/>
                </a:solidFill>
                <a:latin typeface="Calibri" panose="020F0502020204030204"/>
              </a:rPr>
              <a:t>Adolescent admissions had a favorable variance of 2 to budget and adult admissions had an unfavorable variance of 31.  </a:t>
            </a:r>
            <a:endParaRPr lang="en-US" sz="1050">
              <a:solidFill>
                <a:prstClr val="black"/>
              </a:solidFill>
              <a:latin typeface="Calibri" panose="020F0502020204030204"/>
              <a:ea typeface="Calibri"/>
              <a:cs typeface="Calibri"/>
            </a:endParaRPr>
          </a:p>
          <a:p>
            <a:pPr defTabSz="914400" eaLnBrk="1" fontAlgn="auto" hangingPunct="1">
              <a:spcBef>
                <a:spcPts val="400"/>
              </a:spcBef>
              <a:spcAft>
                <a:spcPts val="0"/>
              </a:spcAft>
              <a:defRPr/>
            </a:pPr>
            <a:r>
              <a:rPr lang="en-US" sz="1100">
                <a:solidFill>
                  <a:prstClr val="black"/>
                </a:solidFill>
                <a:latin typeface="Calibri" panose="020F0502020204030204"/>
                <a:ea typeface="Calibri"/>
                <a:cs typeface="Calibri"/>
              </a:rPr>
              <a:t>Admissions up 28 over April 2025 and child and adolescent admissions up 31 over prior year.  YTD admissions are up 139 (16%)</a:t>
            </a:r>
            <a:endParaRPr lang="en-US" sz="1050">
              <a:solidFill>
                <a:prstClr val="black"/>
              </a:solidFill>
              <a:latin typeface="Calibri" panose="020F0502020204030204"/>
              <a:ea typeface="Calibri"/>
              <a:cs typeface="Calibri"/>
            </a:endParaRPr>
          </a:p>
          <a:p>
            <a:pPr defTabSz="914400">
              <a:spcBef>
                <a:spcPts val="400"/>
              </a:spcBef>
              <a:spcAft>
                <a:spcPts val="0"/>
              </a:spcAft>
              <a:defRPr/>
            </a:pPr>
            <a:r>
              <a:rPr lang="en-US" sz="1100">
                <a:solidFill>
                  <a:prstClr val="black"/>
                </a:solidFill>
                <a:latin typeface="Calibri" panose="020F0502020204030204"/>
                <a:ea typeface="Calibri"/>
                <a:cs typeface="Calibri"/>
              </a:rPr>
              <a:t>Medicaid admissions are up 154 over prior year.</a:t>
            </a:r>
          </a:p>
          <a:p>
            <a:pPr defTabSz="914400" eaLnBrk="1" fontAlgn="auto" hangingPunct="1">
              <a:spcBef>
                <a:spcPts val="400"/>
              </a:spcBef>
              <a:spcAft>
                <a:spcPts val="0"/>
              </a:spcAft>
              <a:defRPr/>
            </a:pPr>
            <a:r>
              <a:rPr lang="en-US" sz="1050">
                <a:solidFill>
                  <a:prstClr val="black"/>
                </a:solidFill>
                <a:latin typeface="Calibri" panose="020F0502020204030204"/>
                <a:ea typeface="Calibri"/>
                <a:cs typeface="Calibri"/>
              </a:rPr>
              <a:t>Acceptance rate 36.1% in April vs. 38.4% for full-year 2025. Bed capacity deflections increased to 26 for April.  If those are removed the acceptance rate jumps to 39.7% for the month.</a:t>
            </a:r>
          </a:p>
        </p:txBody>
      </p:sp>
      <p:graphicFrame>
        <p:nvGraphicFramePr>
          <p:cNvPr id="3" name="Table 2">
            <a:extLst>
              <a:ext uri="{FF2B5EF4-FFF2-40B4-BE49-F238E27FC236}">
                <a16:creationId xmlns:a16="http://schemas.microsoft.com/office/drawing/2014/main" id="{EDEDBD6C-57B5-2E28-8202-DC7A99E19313}"/>
              </a:ext>
            </a:extLst>
          </p:cNvPr>
          <p:cNvGraphicFramePr>
            <a:graphicFrameLocks noGrp="1"/>
          </p:cNvGraphicFramePr>
          <p:nvPr>
            <p:extLst>
              <p:ext uri="{D42A27DB-BD31-4B8C-83A1-F6EECF244321}">
                <p14:modId xmlns:p14="http://schemas.microsoft.com/office/powerpoint/2010/main" val="453316955"/>
              </p:ext>
            </p:extLst>
          </p:nvPr>
        </p:nvGraphicFramePr>
        <p:xfrm>
          <a:off x="1337641" y="609602"/>
          <a:ext cx="5831784" cy="3413760"/>
        </p:xfrm>
        <a:graphic>
          <a:graphicData uri="http://schemas.openxmlformats.org/drawingml/2006/table">
            <a:tbl>
              <a:tblPr firstRow="1" firstCol="1" bandRow="1">
                <a:tableStyleId>{5C22544A-7EE6-4342-B048-85BDC9FD1C3A}</a:tableStyleId>
              </a:tblPr>
              <a:tblGrid>
                <a:gridCol w="2300081">
                  <a:extLst>
                    <a:ext uri="{9D8B030D-6E8A-4147-A177-3AD203B41FA5}">
                      <a16:colId xmlns:a16="http://schemas.microsoft.com/office/drawing/2014/main" val="2335195374"/>
                    </a:ext>
                  </a:extLst>
                </a:gridCol>
                <a:gridCol w="1795669">
                  <a:extLst>
                    <a:ext uri="{9D8B030D-6E8A-4147-A177-3AD203B41FA5}">
                      <a16:colId xmlns:a16="http://schemas.microsoft.com/office/drawing/2014/main" val="3061854391"/>
                    </a:ext>
                  </a:extLst>
                </a:gridCol>
                <a:gridCol w="1736034">
                  <a:extLst>
                    <a:ext uri="{9D8B030D-6E8A-4147-A177-3AD203B41FA5}">
                      <a16:colId xmlns:a16="http://schemas.microsoft.com/office/drawing/2014/main" val="2482235943"/>
                    </a:ext>
                  </a:extLst>
                </a:gridCol>
              </a:tblGrid>
              <a:tr h="193305">
                <a:tc>
                  <a:txBody>
                    <a:bodyPr/>
                    <a:lstStyle/>
                    <a:p>
                      <a:pPr marL="0" marR="0" algn="ctr">
                        <a:buNone/>
                      </a:pPr>
                      <a:r>
                        <a:rPr lang="en-US" sz="1200">
                          <a:effectLst/>
                        </a:rPr>
                        <a:t>Deflection Reason</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Record Count</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 of Total Referrals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53487819"/>
                  </a:ext>
                </a:extLst>
              </a:tr>
              <a:tr h="193305">
                <a:tc>
                  <a:txBody>
                    <a:bodyPr/>
                    <a:lstStyle/>
                    <a:p>
                      <a:pPr marL="0" marR="0">
                        <a:buNone/>
                      </a:pPr>
                      <a:r>
                        <a:rPr lang="en-US" sz="1200">
                          <a:effectLst/>
                        </a:rPr>
                        <a:t>Program Need, Not Offered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85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19.5%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1548688049"/>
                  </a:ext>
                </a:extLst>
              </a:tr>
              <a:tr h="193305">
                <a:tc>
                  <a:txBody>
                    <a:bodyPr/>
                    <a:lstStyle/>
                    <a:p>
                      <a:pPr marL="0" marR="0">
                        <a:buNone/>
                      </a:pPr>
                      <a:r>
                        <a:rPr lang="en-US" sz="1200">
                          <a:effectLst/>
                        </a:rPr>
                        <a:t>Clinical – Lacks Acuity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69</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15.9%</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1019017945"/>
                  </a:ext>
                </a:extLst>
              </a:tr>
              <a:tr h="193305">
                <a:tc>
                  <a:txBody>
                    <a:bodyPr/>
                    <a:lstStyle/>
                    <a:p>
                      <a:pPr marL="0" marR="0">
                        <a:buNone/>
                      </a:pPr>
                      <a:r>
                        <a:rPr lang="en-US" sz="1200">
                          <a:effectLst/>
                        </a:rPr>
                        <a:t>Medically Unstable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53</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12.2%</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127752688"/>
                  </a:ext>
                </a:extLst>
              </a:tr>
              <a:tr h="193305">
                <a:tc>
                  <a:txBody>
                    <a:bodyPr/>
                    <a:lstStyle/>
                    <a:p>
                      <a:pPr marL="0" marR="0">
                        <a:buNone/>
                      </a:pPr>
                      <a:r>
                        <a:rPr lang="en-US" sz="1200">
                          <a:effectLst/>
                        </a:rPr>
                        <a:t>Closer</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40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9.2%</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3005790129"/>
                  </a:ext>
                </a:extLst>
              </a:tr>
              <a:tr h="193305">
                <a:tc>
                  <a:txBody>
                    <a:bodyPr/>
                    <a:lstStyle/>
                    <a:p>
                      <a:pPr marL="0" marR="0">
                        <a:buNone/>
                      </a:pPr>
                      <a:r>
                        <a:rPr lang="en-US" sz="1200">
                          <a:effectLst/>
                        </a:rPr>
                        <a:t>Information Only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31</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7.1%</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1096711929"/>
                  </a:ext>
                </a:extLst>
              </a:tr>
              <a:tr h="193305">
                <a:tc>
                  <a:txBody>
                    <a:bodyPr/>
                    <a:lstStyle/>
                    <a:p>
                      <a:pPr marL="0" marR="0">
                        <a:buNone/>
                      </a:pPr>
                      <a:r>
                        <a:rPr lang="en-US" sz="1200">
                          <a:effectLst/>
                        </a:rPr>
                        <a:t>Pt Refused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26</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6.0%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454111208"/>
                  </a:ext>
                </a:extLst>
              </a:tr>
              <a:tr h="193305">
                <a:tc>
                  <a:txBody>
                    <a:bodyPr/>
                    <a:lstStyle/>
                    <a:p>
                      <a:pPr marL="0" marR="0">
                        <a:buNone/>
                      </a:pPr>
                      <a:r>
                        <a:rPr lang="en-US" sz="1200">
                          <a:effectLst/>
                        </a:rPr>
                        <a:t>Clinical – High Acuity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26</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6.0%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3353219904"/>
                  </a:ext>
                </a:extLst>
              </a:tr>
              <a:tr h="193305">
                <a:tc>
                  <a:txBody>
                    <a:bodyPr/>
                    <a:lstStyle/>
                    <a:p>
                      <a:pPr marL="0" marR="0">
                        <a:buNone/>
                      </a:pPr>
                      <a:r>
                        <a:rPr lang="en-US" sz="1200">
                          <a:effectLst/>
                        </a:rPr>
                        <a:t>Bed Capacity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26</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6.0%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1738282293"/>
                  </a:ext>
                </a:extLst>
              </a:tr>
              <a:tr h="193305">
                <a:tc>
                  <a:txBody>
                    <a:bodyPr/>
                    <a:lstStyle/>
                    <a:p>
                      <a:pPr marL="0" marR="0">
                        <a:buNone/>
                      </a:pPr>
                      <a:r>
                        <a:rPr lang="en-US" sz="1200">
                          <a:effectLst/>
                        </a:rPr>
                        <a:t>Referral Rescinded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23</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5.3%</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818682204"/>
                  </a:ext>
                </a:extLst>
              </a:tr>
              <a:tr h="193305">
                <a:tc>
                  <a:txBody>
                    <a:bodyPr/>
                    <a:lstStyle/>
                    <a:p>
                      <a:pPr marL="0" marR="0">
                        <a:buNone/>
                      </a:pPr>
                      <a:r>
                        <a:rPr lang="en-US" sz="1200">
                          <a:effectLst/>
                        </a:rPr>
                        <a:t>Non‑Emergency Patient: Financial</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19</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4.4%</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22274647"/>
                  </a:ext>
                </a:extLst>
              </a:tr>
              <a:tr h="193305">
                <a:tc>
                  <a:txBody>
                    <a:bodyPr/>
                    <a:lstStyle/>
                    <a:p>
                      <a:pPr marL="0" marR="0">
                        <a:buNone/>
                      </a:pPr>
                      <a:r>
                        <a:rPr lang="en-US" sz="1200">
                          <a:effectLst/>
                        </a:rPr>
                        <a:t>No Show</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18</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4.1%</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870334646"/>
                  </a:ext>
                </a:extLst>
              </a:tr>
              <a:tr h="368373">
                <a:tc>
                  <a:txBody>
                    <a:bodyPr/>
                    <a:lstStyle/>
                    <a:p>
                      <a:pPr marL="0" marR="0">
                        <a:buNone/>
                      </a:pPr>
                      <a:r>
                        <a:rPr lang="en-US" sz="1200">
                          <a:effectLst/>
                        </a:rPr>
                        <a:t>Clinical – Lacks Acuity (Assessed &amp; Referred OP)</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8</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1.8%</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3287834161"/>
                  </a:ext>
                </a:extLst>
              </a:tr>
              <a:tr h="193305">
                <a:tc>
                  <a:txBody>
                    <a:bodyPr/>
                    <a:lstStyle/>
                    <a:p>
                      <a:pPr marL="0" marR="0">
                        <a:buNone/>
                      </a:pPr>
                      <a:r>
                        <a:rPr lang="en-US" sz="1200">
                          <a:effectLst/>
                        </a:rPr>
                        <a:t>Staffing Capacity</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7</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1.6%</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3539158337"/>
                  </a:ext>
                </a:extLst>
              </a:tr>
              <a:tr h="193305">
                <a:tc>
                  <a:txBody>
                    <a:bodyPr/>
                    <a:lstStyle/>
                    <a:p>
                      <a:pPr marL="0" marR="0">
                        <a:buNone/>
                      </a:pPr>
                      <a:r>
                        <a:rPr lang="en-US" sz="1200">
                          <a:effectLst/>
                        </a:rPr>
                        <a:t>Pt Went Elsewhere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4</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0.9%</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1667855841"/>
                  </a:ext>
                </a:extLst>
              </a:tr>
              <a:tr h="193305">
                <a:tc>
                  <a:txBody>
                    <a:bodyPr/>
                    <a:lstStyle/>
                    <a:p>
                      <a:pPr marL="0" marR="0" algn="ctr">
                        <a:buNone/>
                      </a:pPr>
                      <a:r>
                        <a:rPr lang="en-US" sz="1200">
                          <a:effectLst/>
                        </a:rPr>
                        <a:t>Total Referrals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435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tc>
                  <a:txBody>
                    <a:bodyPr/>
                    <a:lstStyle/>
                    <a:p>
                      <a:pPr marL="0" marR="0" algn="r">
                        <a:buNone/>
                      </a:pPr>
                      <a:r>
                        <a:rPr lang="en-US" sz="1200">
                          <a:effectLst/>
                        </a:rPr>
                        <a:t>100%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9525" marR="9525" marT="9525" marB="9525" anchor="ctr"/>
                </a:tc>
                <a:extLst>
                  <a:ext uri="{0D108BD9-81ED-4DB2-BD59-A6C34878D82A}">
                    <a16:rowId xmlns:a16="http://schemas.microsoft.com/office/drawing/2014/main" val="2602158520"/>
                  </a:ext>
                </a:extLst>
              </a:tr>
            </a:tbl>
          </a:graphicData>
        </a:graphic>
      </p:graphicFrame>
    </p:spTree>
    <p:extLst>
      <p:ext uri="{BB962C8B-B14F-4D97-AF65-F5344CB8AC3E}">
        <p14:creationId xmlns:p14="http://schemas.microsoft.com/office/powerpoint/2010/main" val="2839741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78883-1067-A802-5C6F-41A12F04A771}"/>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150A81BB-2931-1F13-0C6A-8D60D8EB8BE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150A81BB-2931-1F13-0C6A-8D60D8EB8BE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91C53C67-2932-082B-BB99-D3F5D7E4B2E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D92FDA2E-7789-2596-4DFF-EA759BB570A6}"/>
              </a:ext>
            </a:extLst>
          </p:cNvPr>
          <p:cNvSpPr>
            <a:spLocks noGrp="1"/>
          </p:cNvSpPr>
          <p:nvPr>
            <p:ph type="title"/>
          </p:nvPr>
        </p:nvSpPr>
        <p:spPr/>
        <p:txBody>
          <a:bodyPr vert="horz" lIns="91440" tIns="45720" rIns="91440" bIns="45720" rtlCol="0" anchor="ctr">
            <a:normAutofit/>
          </a:bodyPr>
          <a:lstStyle/>
          <a:p>
            <a:pPr algn="ctr"/>
            <a:r>
              <a:rPr lang="en-US"/>
              <a:t>April 2026 – Volume – Highland</a:t>
            </a:r>
          </a:p>
        </p:txBody>
      </p:sp>
      <p:sp>
        <p:nvSpPr>
          <p:cNvPr id="9" name="Slide Number Placeholder 1">
            <a:extLst>
              <a:ext uri="{FF2B5EF4-FFF2-40B4-BE49-F238E27FC236}">
                <a16:creationId xmlns:a16="http://schemas.microsoft.com/office/drawing/2014/main" id="{8A3DF2E8-12C4-B678-D0D6-DEF665CD8BDE}"/>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9</a:t>
            </a:fld>
            <a:endParaRPr lang="en-US"/>
          </a:p>
        </p:txBody>
      </p:sp>
      <p:sp>
        <p:nvSpPr>
          <p:cNvPr id="3" name="Content Placeholder 2">
            <a:extLst>
              <a:ext uri="{FF2B5EF4-FFF2-40B4-BE49-F238E27FC236}">
                <a16:creationId xmlns:a16="http://schemas.microsoft.com/office/drawing/2014/main" id="{D7F96193-5500-2909-A19D-A21D14098345}"/>
              </a:ext>
            </a:extLst>
          </p:cNvPr>
          <p:cNvSpPr txBox="1">
            <a:spLocks/>
          </p:cNvSpPr>
          <p:nvPr/>
        </p:nvSpPr>
        <p:spPr bwMode="auto">
          <a:xfrm>
            <a:off x="314316" y="712932"/>
            <a:ext cx="8578771" cy="1019757"/>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ADC</a:t>
            </a:r>
          </a:p>
          <a:p>
            <a:pPr defTabSz="914400" eaLnBrk="1" fontAlgn="auto" hangingPunct="1">
              <a:spcBef>
                <a:spcPts val="400"/>
              </a:spcBef>
              <a:spcAft>
                <a:spcPts val="0"/>
              </a:spcAft>
              <a:defRPr/>
            </a:pP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ADC </a:t>
            </a:r>
            <a:r>
              <a:rPr lang="en-US" sz="900" dirty="0">
                <a:solidFill>
                  <a:prstClr val="black"/>
                </a:solidFill>
                <a:latin typeface="Calibri" panose="020F0502020204030204"/>
              </a:rPr>
              <a:t>had an unfavorable variance to budget of 10.0.</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  Acute ADC </a:t>
            </a:r>
            <a:r>
              <a:rPr lang="en-US" sz="900" dirty="0">
                <a:solidFill>
                  <a:prstClr val="black"/>
                </a:solidFill>
                <a:latin typeface="Calibri" panose="020F0502020204030204"/>
              </a:rPr>
              <a:t>had an unfavorable variance to budget of 8.6</a:t>
            </a: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lang="en-US" sz="9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defTabSz="914400" eaLnBrk="1" fontAlgn="auto" hangingPunct="1">
              <a:spcBef>
                <a:spcPts val="400"/>
              </a:spcBef>
              <a:spcAft>
                <a:spcPts val="0"/>
              </a:spcAft>
              <a:defRPr/>
            </a:pPr>
            <a:r>
              <a:rPr lang="en-US" sz="900" dirty="0">
                <a:solidFill>
                  <a:prstClr val="black"/>
                </a:solidFill>
                <a:latin typeface="Calibri" panose="020F0502020204030204"/>
              </a:rPr>
              <a:t>Detox had an unfavorable variance to budget of 1.5.  </a:t>
            </a:r>
          </a:p>
          <a:p>
            <a:pPr defTabSz="914400" eaLnBrk="1" fontAlgn="auto" hangingPunct="1">
              <a:spcBef>
                <a:spcPts val="400"/>
              </a:spcBef>
              <a:spcAft>
                <a:spcPts val="0"/>
              </a:spcAft>
              <a:defRPr/>
            </a:pPr>
            <a:r>
              <a:rPr lang="en-US" sz="900" dirty="0">
                <a:solidFill>
                  <a:prstClr val="black"/>
                </a:solidFill>
                <a:latin typeface="Calibri" panose="020F0502020204030204"/>
              </a:rPr>
              <a:t>Adult ADC had a favorable variance of 4.1 and C/A had a 4.4 unfavorable variance.  </a:t>
            </a:r>
          </a:p>
          <a:p>
            <a:pPr marL="0" indent="0" defTabSz="914400">
              <a:spcBef>
                <a:spcPts val="400"/>
              </a:spcBef>
              <a:spcAft>
                <a:spcPts val="0"/>
              </a:spcAft>
              <a:buNone/>
              <a:defRPr/>
            </a:pPr>
            <a:endParaRPr lang="en-US" sz="900" dirty="0">
              <a:solidFill>
                <a:prstClr val="black"/>
              </a:solidFill>
              <a:latin typeface="Calibri" panose="020F0502020204030204"/>
              <a:ea typeface="Calibri" panose="020F0502020204030204"/>
              <a:cs typeface="Calibri" panose="020F0502020204030204"/>
            </a:endParaRPr>
          </a:p>
        </p:txBody>
      </p:sp>
      <p:sp>
        <p:nvSpPr>
          <p:cNvPr id="4" name="Content Placeholder 2">
            <a:extLst>
              <a:ext uri="{FF2B5EF4-FFF2-40B4-BE49-F238E27FC236}">
                <a16:creationId xmlns:a16="http://schemas.microsoft.com/office/drawing/2014/main" id="{BB9DCCEC-36E3-FB2C-B63B-EE6F904A3D50}"/>
              </a:ext>
            </a:extLst>
          </p:cNvPr>
          <p:cNvSpPr txBox="1">
            <a:spLocks/>
          </p:cNvSpPr>
          <p:nvPr/>
        </p:nvSpPr>
        <p:spPr bwMode="auto">
          <a:xfrm>
            <a:off x="314316" y="2139522"/>
            <a:ext cx="8578771" cy="506223"/>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a:solidFill>
                  <a:prstClr val="black"/>
                </a:solidFill>
                <a:latin typeface="+mn-lt"/>
              </a:rPr>
              <a:t>OP Visits</a:t>
            </a:r>
          </a:p>
          <a:p>
            <a:pPr marL="0" indent="0" defTabSz="914400">
              <a:spcBef>
                <a:spcPts val="400"/>
              </a:spcBef>
              <a:buNone/>
              <a:defRPr/>
            </a:pPr>
            <a:r>
              <a:rPr lang="en-US" sz="900">
                <a:solidFill>
                  <a:prstClr val="black"/>
                </a:solidFill>
                <a:latin typeface="+mn-lt"/>
              </a:rPr>
              <a:t>N/A</a:t>
            </a:r>
          </a:p>
        </p:txBody>
      </p:sp>
      <p:sp>
        <p:nvSpPr>
          <p:cNvPr id="11" name="Content Placeholder 2">
            <a:extLst>
              <a:ext uri="{FF2B5EF4-FFF2-40B4-BE49-F238E27FC236}">
                <a16:creationId xmlns:a16="http://schemas.microsoft.com/office/drawing/2014/main" id="{CA600AD0-B0FC-C5AF-A5B4-6291BD1DD5DD}"/>
              </a:ext>
            </a:extLst>
          </p:cNvPr>
          <p:cNvSpPr txBox="1">
            <a:spLocks/>
          </p:cNvSpPr>
          <p:nvPr/>
        </p:nvSpPr>
        <p:spPr bwMode="auto">
          <a:xfrm>
            <a:off x="314316" y="2911729"/>
            <a:ext cx="8578771" cy="1316849"/>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a:solidFill>
                  <a:prstClr val="black"/>
                </a:solidFill>
                <a:latin typeface="+mn-lt"/>
              </a:rPr>
              <a:t>LOS</a:t>
            </a:r>
          </a:p>
          <a:p>
            <a:pPr defTabSz="914400" eaLnBrk="1" fontAlgn="auto" hangingPunct="1">
              <a:spcBef>
                <a:spcPts val="400"/>
              </a:spcBef>
              <a:spcAft>
                <a:spcPts val="0"/>
              </a:spcAft>
              <a:defRPr/>
            </a:pPr>
            <a:r>
              <a:rPr lang="en-US" sz="900">
                <a:solidFill>
                  <a:prstClr val="black"/>
                </a:solidFill>
                <a:latin typeface="Calibri" panose="020F0502020204030204"/>
              </a:rPr>
              <a:t>ALOS of 10.4 days was 0.4 days favorable to the 10.0 budget.  </a:t>
            </a:r>
            <a:endParaRPr lang="en-US" sz="900">
              <a:solidFill>
                <a:prstClr val="black"/>
              </a:solidFill>
              <a:latin typeface="Calibri" panose="020F0502020204030204"/>
              <a:ea typeface="Calibri"/>
              <a:cs typeface="Calibri"/>
            </a:endParaRPr>
          </a:p>
          <a:p>
            <a:pPr defTabSz="914400" eaLnBrk="1" fontAlgn="auto" hangingPunct="1">
              <a:spcBef>
                <a:spcPts val="400"/>
              </a:spcBef>
              <a:spcAft>
                <a:spcPts val="0"/>
              </a:spcAft>
              <a:defRPr/>
            </a:pPr>
            <a:r>
              <a:rPr lang="en-US" sz="900">
                <a:solidFill>
                  <a:prstClr val="black"/>
                </a:solidFill>
                <a:latin typeface="Calibri" panose="020F0502020204030204"/>
              </a:rPr>
              <a:t>ALOS was down 3.9 days to prior year due to fewer long term chronic patients and closure of PRTF.</a:t>
            </a:r>
            <a:endParaRPr lang="en-US" sz="900">
              <a:solidFill>
                <a:prstClr val="black"/>
              </a:solidFill>
              <a:latin typeface="Calibri" panose="020F0502020204030204"/>
              <a:ea typeface="Calibri"/>
              <a:cs typeface="Calibri"/>
            </a:endParaRPr>
          </a:p>
          <a:p>
            <a:pPr defTabSz="914400">
              <a:spcBef>
                <a:spcPts val="400"/>
              </a:spcBef>
              <a:spcAft>
                <a:spcPts val="0"/>
              </a:spcAft>
              <a:defRPr/>
            </a:pPr>
            <a:r>
              <a:rPr lang="en-US" sz="900">
                <a:solidFill>
                  <a:prstClr val="black"/>
                </a:solidFill>
                <a:latin typeface="+mn-lt"/>
                <a:ea typeface="Calibri"/>
                <a:cs typeface="Calibri"/>
              </a:rPr>
              <a:t>ADC numbers are down, but admission have increased 16% over prior year.</a:t>
            </a:r>
          </a:p>
        </p:txBody>
      </p:sp>
      <p:sp>
        <p:nvSpPr>
          <p:cNvPr id="12" name="Content Placeholder 2">
            <a:extLst>
              <a:ext uri="{FF2B5EF4-FFF2-40B4-BE49-F238E27FC236}">
                <a16:creationId xmlns:a16="http://schemas.microsoft.com/office/drawing/2014/main" id="{7E024DF3-AC5F-3BB0-A70D-16879C65092C}"/>
              </a:ext>
            </a:extLst>
          </p:cNvPr>
          <p:cNvSpPr txBox="1">
            <a:spLocks/>
          </p:cNvSpPr>
          <p:nvPr/>
        </p:nvSpPr>
        <p:spPr bwMode="auto">
          <a:xfrm>
            <a:off x="314315" y="4507262"/>
            <a:ext cx="8578771" cy="1836388"/>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Payor Mix</a:t>
            </a:r>
          </a:p>
          <a:p>
            <a:pPr defTabSz="914400">
              <a:spcBef>
                <a:spcPts val="400"/>
              </a:spcBef>
              <a:defRPr/>
            </a:pPr>
            <a:r>
              <a:rPr lang="en-US" sz="900" dirty="0">
                <a:solidFill>
                  <a:prstClr val="black"/>
                </a:solidFill>
                <a:latin typeface="+mn-lt"/>
              </a:rPr>
              <a:t>Medicaid mix of 71% should drive up DPP funding.</a:t>
            </a:r>
            <a:endParaRPr lang="en-US" sz="900" dirty="0">
              <a:solidFill>
                <a:prstClr val="black"/>
              </a:solidFill>
              <a:latin typeface="+mn-lt"/>
              <a:ea typeface="Calibri"/>
              <a:cs typeface="Calibri"/>
            </a:endParaRPr>
          </a:p>
          <a:p>
            <a:pPr defTabSz="914400">
              <a:spcBef>
                <a:spcPts val="400"/>
              </a:spcBef>
              <a:defRPr/>
            </a:pPr>
            <a:r>
              <a:rPr lang="en-US" sz="900" dirty="0">
                <a:solidFill>
                  <a:prstClr val="black"/>
                </a:solidFill>
                <a:latin typeface="+mn-lt"/>
              </a:rPr>
              <a:t>Qualifies Highland for the $2.29M/month WV Directed Payment Program supplemental — a $27.5M annualized revenue mechanism that is structurally tied to Managed Medicaid volume</a:t>
            </a:r>
            <a:endParaRPr lang="en-US" sz="900" dirty="0">
              <a:solidFill>
                <a:prstClr val="black"/>
              </a:solidFill>
              <a:latin typeface="+mn-lt"/>
              <a:ea typeface="Calibri"/>
              <a:cs typeface="Calibri"/>
            </a:endParaRPr>
          </a:p>
          <a:p>
            <a:pPr defTabSz="914400">
              <a:spcBef>
                <a:spcPts val="400"/>
              </a:spcBef>
              <a:defRPr/>
            </a:pPr>
            <a:r>
              <a:rPr lang="en-US" sz="900" dirty="0">
                <a:solidFill>
                  <a:prstClr val="black"/>
                </a:solidFill>
                <a:latin typeface="+mn-lt"/>
              </a:rPr>
              <a:t>Produces a net revenue per patient day of $2,314 that is 8% above the $2,126 budget. Medicare FFS at 6.1%, 4.0% below budget </a:t>
            </a:r>
            <a:r>
              <a:rPr lang="en-US" sz="900" dirty="0" err="1">
                <a:solidFill>
                  <a:prstClr val="black"/>
                </a:solidFill>
                <a:latin typeface="+mn-lt"/>
              </a:rPr>
              <a:t>andis</a:t>
            </a:r>
            <a:r>
              <a:rPr lang="en-US" sz="900" dirty="0">
                <a:solidFill>
                  <a:prstClr val="black"/>
                </a:solidFill>
                <a:latin typeface="+mn-lt"/>
              </a:rPr>
              <a:t> a rate headwind; however, at current Medicaid concentration levels the DPP mechanism more than compensates. Protect the Managed Medicaid referral mix as the highest-leverage financial variable in this facility.</a:t>
            </a:r>
            <a:endParaRPr lang="en-US" sz="900" dirty="0">
              <a:solidFill>
                <a:prstClr val="black"/>
              </a:solidFill>
              <a:latin typeface="+mn-lt"/>
              <a:ea typeface="Calibri"/>
              <a:cs typeface="Calibri"/>
            </a:endParaRPr>
          </a:p>
        </p:txBody>
      </p:sp>
    </p:spTree>
    <p:extLst>
      <p:ext uri="{BB962C8B-B14F-4D97-AF65-F5344CB8AC3E}">
        <p14:creationId xmlns:p14="http://schemas.microsoft.com/office/powerpoint/2010/main" val="2773409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16BA0-2E5E-5A30-BAE5-0328B1A1CCC5}"/>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00B75C4-ECC8-06C5-28C7-2FA7A6990F8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B00B75C4-ECC8-06C5-28C7-2FA7A6990F8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B0D3B15C-6A3D-E1FD-E1F3-BB8DF7548A3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2FBF9641-BBDB-8C4B-ECD8-8C479DCE3DD8}"/>
              </a:ext>
            </a:extLst>
          </p:cNvPr>
          <p:cNvSpPr>
            <a:spLocks noGrp="1"/>
          </p:cNvSpPr>
          <p:nvPr>
            <p:ph type="title"/>
          </p:nvPr>
        </p:nvSpPr>
        <p:spPr/>
        <p:txBody>
          <a:bodyPr vert="horz" lIns="91440" tIns="45720" rIns="91440" bIns="45720" rtlCol="0" anchor="ctr">
            <a:normAutofit/>
          </a:bodyPr>
          <a:lstStyle/>
          <a:p>
            <a:pPr algn="ctr"/>
            <a:r>
              <a:rPr lang="en-US"/>
              <a:t>April 2026 – Net Revenue – Highland</a:t>
            </a:r>
          </a:p>
        </p:txBody>
      </p:sp>
      <p:sp>
        <p:nvSpPr>
          <p:cNvPr id="9" name="Slide Number Placeholder 1">
            <a:extLst>
              <a:ext uri="{FF2B5EF4-FFF2-40B4-BE49-F238E27FC236}">
                <a16:creationId xmlns:a16="http://schemas.microsoft.com/office/drawing/2014/main" id="{A6322568-0105-F4B0-5711-834D79CFBE32}"/>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10</a:t>
            </a:fld>
            <a:endParaRPr lang="en-US"/>
          </a:p>
        </p:txBody>
      </p:sp>
      <p:pic>
        <p:nvPicPr>
          <p:cNvPr id="5" name="Picture 4">
            <a:extLst>
              <a:ext uri="{FF2B5EF4-FFF2-40B4-BE49-F238E27FC236}">
                <a16:creationId xmlns:a16="http://schemas.microsoft.com/office/drawing/2014/main" id="{31949B80-D6D9-0FCB-867D-324AB8D34564}"/>
              </a:ext>
            </a:extLst>
          </p:cNvPr>
          <p:cNvPicPr>
            <a:picLocks noChangeAspect="1"/>
          </p:cNvPicPr>
          <p:nvPr/>
        </p:nvPicPr>
        <p:blipFill>
          <a:blip r:embed="rId7"/>
          <a:stretch>
            <a:fillRect/>
          </a:stretch>
        </p:blipFill>
        <p:spPr>
          <a:xfrm>
            <a:off x="28575" y="1228725"/>
            <a:ext cx="9086850" cy="4400550"/>
          </a:xfrm>
          <a:prstGeom prst="rect">
            <a:avLst/>
          </a:prstGeom>
        </p:spPr>
      </p:pic>
    </p:spTree>
    <p:extLst>
      <p:ext uri="{BB962C8B-B14F-4D97-AF65-F5344CB8AC3E}">
        <p14:creationId xmlns:p14="http://schemas.microsoft.com/office/powerpoint/2010/main" val="426666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3E885-F68B-53F7-7DBC-603E40748DBD}"/>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1BE30EAC-B80F-4C5C-A3D1-D39205FC2B8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1BE30EAC-B80F-4C5C-A3D1-D39205FC2B80}"/>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D4B23A0-8027-EDB8-FD77-A4F13C8FC3F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13C6CA69-31D9-A04A-7466-C37B8F1A42DC}"/>
              </a:ext>
            </a:extLst>
          </p:cNvPr>
          <p:cNvSpPr>
            <a:spLocks noGrp="1"/>
          </p:cNvSpPr>
          <p:nvPr>
            <p:ph type="title"/>
          </p:nvPr>
        </p:nvSpPr>
        <p:spPr/>
        <p:txBody>
          <a:bodyPr vert="horz" lIns="91440" tIns="45720" rIns="91440" bIns="45720" rtlCol="0" anchor="ctr">
            <a:normAutofit/>
          </a:bodyPr>
          <a:lstStyle/>
          <a:p>
            <a:pPr algn="ctr"/>
            <a:r>
              <a:rPr lang="en-US"/>
              <a:t>April 2026 – Net Revenue – Highland</a:t>
            </a:r>
          </a:p>
        </p:txBody>
      </p:sp>
      <p:sp>
        <p:nvSpPr>
          <p:cNvPr id="9" name="Slide Number Placeholder 1">
            <a:extLst>
              <a:ext uri="{FF2B5EF4-FFF2-40B4-BE49-F238E27FC236}">
                <a16:creationId xmlns:a16="http://schemas.microsoft.com/office/drawing/2014/main" id="{B0277307-38FD-0952-C295-83B2FBE89166}"/>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11</a:t>
            </a:fld>
            <a:endParaRPr lang="en-US"/>
          </a:p>
        </p:txBody>
      </p:sp>
      <p:sp>
        <p:nvSpPr>
          <p:cNvPr id="10" name="Content Placeholder 2">
            <a:extLst>
              <a:ext uri="{FF2B5EF4-FFF2-40B4-BE49-F238E27FC236}">
                <a16:creationId xmlns:a16="http://schemas.microsoft.com/office/drawing/2014/main" id="{59FB141E-1528-7579-F847-D360EEE22197}"/>
              </a:ext>
            </a:extLst>
          </p:cNvPr>
          <p:cNvSpPr txBox="1">
            <a:spLocks/>
          </p:cNvSpPr>
          <p:nvPr/>
        </p:nvSpPr>
        <p:spPr bwMode="auto">
          <a:xfrm>
            <a:off x="322880" y="609602"/>
            <a:ext cx="8544525" cy="1411975"/>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Net Revenue</a:t>
            </a:r>
          </a:p>
          <a:p>
            <a:r>
              <a:rPr lang="en-US" sz="900" dirty="0"/>
              <a:t>Net Revenue of $5.91M exceeded the $5.70M budget by $209K favorable.</a:t>
            </a:r>
          </a:p>
          <a:p>
            <a:r>
              <a:rPr lang="en-US" sz="900" dirty="0"/>
              <a:t>Net revenue per patient day of $2313.86 vs $1996.92 budget (+15.9%).</a:t>
            </a:r>
          </a:p>
          <a:p>
            <a:r>
              <a:rPr lang="en-US" sz="900" dirty="0"/>
              <a:t>IP Gross Revenue of $7.73M vs $9.32M budget — $1.59M unfavorable.</a:t>
            </a:r>
          </a:p>
          <a:p>
            <a:r>
              <a:rPr lang="en-US" sz="900" dirty="0">
                <a:latin typeface="Arial"/>
                <a:cs typeface="Arial"/>
              </a:rPr>
              <a:t>Census of 2,555 patient days vs 2,856 budget (-301 days). </a:t>
            </a:r>
          </a:p>
          <a:p>
            <a:r>
              <a:rPr lang="en-US" sz="900">
                <a:latin typeface="Arial"/>
                <a:cs typeface="Arial"/>
              </a:rPr>
              <a:t>One-time favorable bad debt adjustment was the main factor for exceeding our net revenue budget.</a:t>
            </a:r>
          </a:p>
          <a:p>
            <a:pPr marL="0" indent="0" defTabSz="914400">
              <a:spcBef>
                <a:spcPts val="400"/>
              </a:spcBef>
              <a:buNone/>
              <a:defRPr/>
            </a:pPr>
            <a:endParaRPr lang="en-US" sz="900" dirty="0">
              <a:solidFill>
                <a:prstClr val="black"/>
              </a:solidFill>
              <a:latin typeface="+mn-lt"/>
              <a:ea typeface="Calibri"/>
              <a:cs typeface="Calibri"/>
            </a:endParaRPr>
          </a:p>
        </p:txBody>
      </p:sp>
      <p:sp>
        <p:nvSpPr>
          <p:cNvPr id="3" name="Content Placeholder 2">
            <a:extLst>
              <a:ext uri="{FF2B5EF4-FFF2-40B4-BE49-F238E27FC236}">
                <a16:creationId xmlns:a16="http://schemas.microsoft.com/office/drawing/2014/main" id="{93FC4DFA-CEDF-678A-6021-EA8DFE29ADFD}"/>
              </a:ext>
            </a:extLst>
          </p:cNvPr>
          <p:cNvSpPr txBox="1">
            <a:spLocks/>
          </p:cNvSpPr>
          <p:nvPr/>
        </p:nvSpPr>
        <p:spPr bwMode="auto">
          <a:xfrm>
            <a:off x="305756" y="2090070"/>
            <a:ext cx="8547021" cy="1337214"/>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Denials</a:t>
            </a:r>
            <a:endParaRPr lang="en-US" sz="900" dirty="0">
              <a:cs typeface="Arial"/>
            </a:endParaRPr>
          </a:p>
          <a:p>
            <a:pPr>
              <a:buFont typeface="Arial"/>
              <a:buChar char="•"/>
            </a:pPr>
            <a:r>
              <a:rPr lang="en-US" sz="900" dirty="0">
                <a:solidFill>
                  <a:prstClr val="black"/>
                </a:solidFill>
                <a:latin typeface="Arial"/>
                <a:ea typeface="Calibri"/>
                <a:cs typeface="Arial"/>
              </a:rPr>
              <a:t>In April, we experienced an unfavorable variance of $4,226.  </a:t>
            </a:r>
            <a:endParaRPr lang="en-US" sz="900" dirty="0">
              <a:solidFill>
                <a:prstClr val="black"/>
              </a:solidFill>
              <a:cs typeface="Arial"/>
            </a:endParaRPr>
          </a:p>
          <a:p>
            <a:pPr>
              <a:buFont typeface="Arial"/>
              <a:buChar char="•"/>
            </a:pPr>
            <a:r>
              <a:rPr lang="en-US" sz="900" dirty="0">
                <a:solidFill>
                  <a:prstClr val="black"/>
                </a:solidFill>
                <a:latin typeface="Arial"/>
                <a:ea typeface="Calibri"/>
                <a:cs typeface="Arial"/>
              </a:rPr>
              <a:t>There was a total of 45 denied days(22 accts), of which ABH issued 40 days (19 accts).  </a:t>
            </a:r>
            <a:endParaRPr lang="en-US" sz="900" dirty="0">
              <a:solidFill>
                <a:prstClr val="black"/>
              </a:solidFill>
              <a:cs typeface="Arial"/>
            </a:endParaRPr>
          </a:p>
          <a:p>
            <a:pPr>
              <a:buFont typeface="Arial"/>
              <a:buChar char="•"/>
            </a:pPr>
            <a:r>
              <a:rPr lang="en-US" sz="900" dirty="0">
                <a:solidFill>
                  <a:prstClr val="black"/>
                </a:solidFill>
                <a:latin typeface="Arial"/>
                <a:ea typeface="Calibri"/>
                <a:cs typeface="Arial"/>
              </a:rPr>
              <a:t>The UR PI meetings are in progress. We have conducted retraining sessions with all disciplines and are working to improve the documentation process. </a:t>
            </a:r>
            <a:endParaRPr lang="en-US" sz="900" dirty="0">
              <a:solidFill>
                <a:prstClr val="black"/>
              </a:solidFill>
              <a:cs typeface="Arial"/>
            </a:endParaRPr>
          </a:p>
          <a:p>
            <a:pPr>
              <a:buFont typeface="Arial"/>
              <a:buChar char="•"/>
            </a:pPr>
            <a:r>
              <a:rPr lang="en-US" sz="900" dirty="0">
                <a:solidFill>
                  <a:prstClr val="black"/>
                </a:solidFill>
                <a:latin typeface="Arial"/>
                <a:ea typeface="Calibri"/>
                <a:cs typeface="Arial"/>
              </a:rPr>
              <a:t>Additionally, we have held meetings with ABH to develop mutually beneficial contracts to strengthen our relationship with this payer. </a:t>
            </a:r>
            <a:endParaRPr lang="en-US" sz="900" dirty="0">
              <a:solidFill>
                <a:prstClr val="black"/>
              </a:solidFill>
              <a:cs typeface="Arial"/>
            </a:endParaRPr>
          </a:p>
          <a:p>
            <a:pPr>
              <a:buFont typeface="Arial"/>
              <a:buChar char="•"/>
            </a:pPr>
            <a:r>
              <a:rPr lang="en-US" sz="900" dirty="0">
                <a:solidFill>
                  <a:prstClr val="black"/>
                </a:solidFill>
                <a:latin typeface="Arial"/>
                <a:ea typeface="Calibri"/>
                <a:cs typeface="Arial"/>
              </a:rPr>
              <a:t>Our total recoveries for April amounted to $33,433</a:t>
            </a:r>
            <a:endParaRPr lang="en-US" sz="900" dirty="0">
              <a:solidFill>
                <a:prstClr val="black"/>
              </a:solidFill>
              <a:latin typeface="Arial"/>
              <a:cs typeface="Arial"/>
            </a:endParaRPr>
          </a:p>
          <a:p>
            <a:pPr>
              <a:buFont typeface="Arial"/>
              <a:buChar char="•"/>
            </a:pPr>
            <a:endParaRPr lang="en-US" sz="900" dirty="0">
              <a:solidFill>
                <a:prstClr val="black"/>
              </a:solidFill>
              <a:effectLst/>
              <a:latin typeface="Arial"/>
              <a:ea typeface="Calibri"/>
              <a:cs typeface="Arial"/>
            </a:endParaRPr>
          </a:p>
          <a:p>
            <a:pPr marL="0" indent="0">
              <a:spcBef>
                <a:spcPts val="400"/>
              </a:spcBef>
              <a:buNone/>
            </a:pPr>
            <a:endParaRPr lang="en-US" sz="900" dirty="0">
              <a:latin typeface="Calibri" panose="020F0502020204030204"/>
              <a:ea typeface="Calibri"/>
              <a:cs typeface="Calibri"/>
            </a:endParaRPr>
          </a:p>
          <a:p>
            <a:pPr marL="0" indent="0">
              <a:spcBef>
                <a:spcPts val="400"/>
              </a:spcBef>
              <a:buNone/>
            </a:pPr>
            <a:endParaRPr lang="en-US" sz="900" dirty="0">
              <a:latin typeface="Calibri" panose="020F0502020204030204"/>
              <a:ea typeface="Calibri"/>
              <a:cs typeface="Calibri"/>
            </a:endParaRPr>
          </a:p>
        </p:txBody>
      </p:sp>
      <p:sp>
        <p:nvSpPr>
          <p:cNvPr id="4" name="Content Placeholder 2">
            <a:extLst>
              <a:ext uri="{FF2B5EF4-FFF2-40B4-BE49-F238E27FC236}">
                <a16:creationId xmlns:a16="http://schemas.microsoft.com/office/drawing/2014/main" id="{F18D4070-7CA3-655E-CF08-40031DA086A7}"/>
              </a:ext>
            </a:extLst>
          </p:cNvPr>
          <p:cNvSpPr txBox="1">
            <a:spLocks/>
          </p:cNvSpPr>
          <p:nvPr/>
        </p:nvSpPr>
        <p:spPr bwMode="auto">
          <a:xfrm>
            <a:off x="316997" y="3495779"/>
            <a:ext cx="8540671" cy="662723"/>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Charity</a:t>
            </a:r>
          </a:p>
          <a:p>
            <a:pPr defTabSz="914400">
              <a:spcBef>
                <a:spcPts val="400"/>
              </a:spcBef>
              <a:defRPr/>
            </a:pPr>
            <a:r>
              <a:rPr lang="en-US" sz="900">
                <a:solidFill>
                  <a:prstClr val="black"/>
                </a:solidFill>
                <a:latin typeface="Arial"/>
                <a:ea typeface="Calibri"/>
                <a:cs typeface="Arial"/>
              </a:rPr>
              <a:t>Charity adjustments were ($53K) unfavorable to budget.  There were 18 patients that totaled 151 patient days for an average of 8.4 days per patient.</a:t>
            </a:r>
          </a:p>
          <a:p>
            <a:pPr defTabSz="914400">
              <a:spcBef>
                <a:spcPts val="400"/>
              </a:spcBef>
              <a:defRPr/>
            </a:pPr>
            <a:r>
              <a:rPr lang="en-US" sz="900">
                <a:solidFill>
                  <a:prstClr val="black"/>
                </a:solidFill>
                <a:latin typeface="Arial"/>
                <a:ea typeface="Calibri"/>
                <a:cs typeface="Arial"/>
              </a:rPr>
              <a:t>The amount booked in April has charity write-offs for Feb, March and April.  Actual Charity expense includes this catch up entry.</a:t>
            </a:r>
            <a:endParaRPr lang="en-US" sz="900">
              <a:solidFill>
                <a:prstClr val="black"/>
              </a:solidFill>
              <a:ea typeface="Calibri"/>
              <a:cs typeface="Calibri"/>
            </a:endParaRPr>
          </a:p>
          <a:p>
            <a:pPr defTabSz="914400">
              <a:spcBef>
                <a:spcPts val="400"/>
              </a:spcBef>
              <a:defRPr/>
            </a:pPr>
            <a:endParaRPr lang="en-US" sz="900">
              <a:solidFill>
                <a:prstClr val="black"/>
              </a:solidFill>
              <a:latin typeface="+mn-lt"/>
              <a:ea typeface="Calibri"/>
              <a:cs typeface="Calibri"/>
            </a:endParaRPr>
          </a:p>
        </p:txBody>
      </p:sp>
      <p:sp>
        <p:nvSpPr>
          <p:cNvPr id="11" name="Content Placeholder 2">
            <a:extLst>
              <a:ext uri="{FF2B5EF4-FFF2-40B4-BE49-F238E27FC236}">
                <a16:creationId xmlns:a16="http://schemas.microsoft.com/office/drawing/2014/main" id="{312A17F6-93C7-5EE8-B045-8B60EA8DEED2}"/>
              </a:ext>
            </a:extLst>
          </p:cNvPr>
          <p:cNvSpPr txBox="1">
            <a:spLocks/>
          </p:cNvSpPr>
          <p:nvPr/>
        </p:nvSpPr>
        <p:spPr bwMode="auto">
          <a:xfrm>
            <a:off x="314318" y="4235703"/>
            <a:ext cx="8578771" cy="586182"/>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a:solidFill>
                  <a:prstClr val="black"/>
                </a:solidFill>
                <a:latin typeface="Arial" panose="020B0604020202020204" pitchFamily="34" charset="0"/>
                <a:cs typeface="Arial" panose="020B0604020202020204" pitchFamily="34" charset="0"/>
              </a:rPr>
              <a:t>Admin Adjustments</a:t>
            </a:r>
          </a:p>
          <a:p>
            <a:pPr marL="0" indent="0" defTabSz="914400">
              <a:spcBef>
                <a:spcPts val="400"/>
              </a:spcBef>
              <a:buNone/>
              <a:defRPr/>
            </a:pPr>
            <a:r>
              <a:rPr lang="en-US" sz="900">
                <a:solidFill>
                  <a:prstClr val="black"/>
                </a:solidFill>
                <a:latin typeface="Arial" panose="020B0604020202020204" pitchFamily="34" charset="0"/>
                <a:cs typeface="Arial" panose="020B0604020202020204" pitchFamily="34" charset="0"/>
              </a:rPr>
              <a:t>There were no admin adjustments in the period. </a:t>
            </a:r>
            <a:endParaRPr lang="en-US" sz="900">
              <a:solidFill>
                <a:prstClr val="black"/>
              </a:solidFill>
              <a:latin typeface="Arial" panose="020B0604020202020204" pitchFamily="34" charset="0"/>
              <a:ea typeface="Calibri"/>
              <a:cs typeface="Arial" panose="020B0604020202020204" pitchFamily="34" charset="0"/>
            </a:endParaRPr>
          </a:p>
        </p:txBody>
      </p:sp>
      <p:sp>
        <p:nvSpPr>
          <p:cNvPr id="12" name="Content Placeholder 2">
            <a:extLst>
              <a:ext uri="{FF2B5EF4-FFF2-40B4-BE49-F238E27FC236}">
                <a16:creationId xmlns:a16="http://schemas.microsoft.com/office/drawing/2014/main" id="{020B4343-FA4C-F276-1BA0-8DC951DB94F2}"/>
              </a:ext>
            </a:extLst>
          </p:cNvPr>
          <p:cNvSpPr txBox="1">
            <a:spLocks/>
          </p:cNvSpPr>
          <p:nvPr/>
        </p:nvSpPr>
        <p:spPr bwMode="auto">
          <a:xfrm>
            <a:off x="340004" y="4907752"/>
            <a:ext cx="8553085" cy="1559239"/>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a:solidFill>
                  <a:prstClr val="black"/>
                </a:solidFill>
                <a:latin typeface="Arial" panose="020B0604020202020204" pitchFamily="34" charset="0"/>
                <a:cs typeface="Arial" panose="020B0604020202020204" pitchFamily="34" charset="0"/>
              </a:rPr>
              <a:t>Bad Debt</a:t>
            </a:r>
            <a:endParaRPr lang="en-US" sz="900">
              <a:solidFill>
                <a:prstClr val="black"/>
              </a:solidFill>
              <a:latin typeface="Arial" panose="020B0604020202020204" pitchFamily="34" charset="0"/>
              <a:ea typeface="Calibri"/>
              <a:cs typeface="Arial" panose="020B0604020202020204" pitchFamily="34" charset="0"/>
            </a:endParaRPr>
          </a:p>
          <a:p>
            <a:pPr defTabSz="914400">
              <a:spcBef>
                <a:spcPts val="400"/>
              </a:spcBef>
              <a:defRPr/>
            </a:pPr>
            <a:r>
              <a:rPr lang="en-US" sz="900">
                <a:solidFill>
                  <a:prstClr val="black"/>
                </a:solidFill>
                <a:latin typeface="Arial"/>
                <a:cs typeface="Arial"/>
              </a:rPr>
              <a:t>Total Bad Debt of ($401,554)  was $593K favorable to budget. </a:t>
            </a:r>
            <a:endParaRPr lang="en-US" sz="900">
              <a:solidFill>
                <a:prstClr val="black"/>
              </a:solidFill>
              <a:latin typeface="Arial"/>
              <a:ea typeface="Calibri"/>
              <a:cs typeface="Arial"/>
            </a:endParaRPr>
          </a:p>
        </p:txBody>
      </p:sp>
    </p:spTree>
    <p:extLst>
      <p:ext uri="{BB962C8B-B14F-4D97-AF65-F5344CB8AC3E}">
        <p14:creationId xmlns:p14="http://schemas.microsoft.com/office/powerpoint/2010/main" val="349449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C0534-FAA2-D6B7-F529-47809CE07AE9}"/>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CD8F217-24FA-8530-4C3F-941EE1FBEA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BCD8F217-24FA-8530-4C3F-941EE1FBEA1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EFD74224-5555-136F-56ED-4C3A2EF7C6D4}"/>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A6BC99A9-C1EE-A815-7C03-142F10DD4DB1}"/>
              </a:ext>
            </a:extLst>
          </p:cNvPr>
          <p:cNvSpPr>
            <a:spLocks noGrp="1"/>
          </p:cNvSpPr>
          <p:nvPr>
            <p:ph type="title"/>
          </p:nvPr>
        </p:nvSpPr>
        <p:spPr/>
        <p:txBody>
          <a:bodyPr vert="horz" lIns="91440" tIns="45720" rIns="91440" bIns="45720" rtlCol="0" anchor="ctr">
            <a:normAutofit/>
          </a:bodyPr>
          <a:lstStyle/>
          <a:p>
            <a:pPr algn="ctr"/>
            <a:r>
              <a:rPr lang="en-US"/>
              <a:t>April 2026 – Expense – Highland</a:t>
            </a:r>
          </a:p>
        </p:txBody>
      </p:sp>
      <p:sp>
        <p:nvSpPr>
          <p:cNvPr id="9" name="Slide Number Placeholder 1">
            <a:extLst>
              <a:ext uri="{FF2B5EF4-FFF2-40B4-BE49-F238E27FC236}">
                <a16:creationId xmlns:a16="http://schemas.microsoft.com/office/drawing/2014/main" id="{478F9E27-8A3F-E3A4-6656-978267BD7F85}"/>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12</a:t>
            </a:fld>
            <a:endParaRPr lang="en-US"/>
          </a:p>
        </p:txBody>
      </p:sp>
      <p:pic>
        <p:nvPicPr>
          <p:cNvPr id="4" name="Picture 3">
            <a:extLst>
              <a:ext uri="{FF2B5EF4-FFF2-40B4-BE49-F238E27FC236}">
                <a16:creationId xmlns:a16="http://schemas.microsoft.com/office/drawing/2014/main" id="{639FAC14-6FFC-2C4E-1BC1-D9D7F782758F}"/>
              </a:ext>
            </a:extLst>
          </p:cNvPr>
          <p:cNvPicPr>
            <a:picLocks noChangeAspect="1"/>
          </p:cNvPicPr>
          <p:nvPr/>
        </p:nvPicPr>
        <p:blipFill>
          <a:blip r:embed="rId7"/>
          <a:stretch>
            <a:fillRect/>
          </a:stretch>
        </p:blipFill>
        <p:spPr>
          <a:xfrm>
            <a:off x="9472" y="1355867"/>
            <a:ext cx="9086850" cy="4248150"/>
          </a:xfrm>
          <a:prstGeom prst="rect">
            <a:avLst/>
          </a:prstGeom>
        </p:spPr>
      </p:pic>
    </p:spTree>
    <p:extLst>
      <p:ext uri="{BB962C8B-B14F-4D97-AF65-F5344CB8AC3E}">
        <p14:creationId xmlns:p14="http://schemas.microsoft.com/office/powerpoint/2010/main" val="2307606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DDD2C-2D08-A170-E6EC-CE422AB02DBD}"/>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8239202B-D124-95F1-E97A-1D2CDD926D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8239202B-D124-95F1-E97A-1D2CDD926DD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25BD2E45-09B6-3A05-2567-5CAFCF75B73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55E17C31-C3FF-14C2-8081-814C74657F50}"/>
              </a:ext>
            </a:extLst>
          </p:cNvPr>
          <p:cNvSpPr>
            <a:spLocks noGrp="1"/>
          </p:cNvSpPr>
          <p:nvPr>
            <p:ph type="title"/>
          </p:nvPr>
        </p:nvSpPr>
        <p:spPr/>
        <p:txBody>
          <a:bodyPr vert="horz" lIns="91440" tIns="45720" rIns="91440" bIns="45720" rtlCol="0" anchor="ctr">
            <a:normAutofit/>
          </a:bodyPr>
          <a:lstStyle/>
          <a:p>
            <a:pPr algn="ctr"/>
            <a:r>
              <a:rPr lang="en-US"/>
              <a:t>April 2026 – Expense – Highland</a:t>
            </a:r>
          </a:p>
        </p:txBody>
      </p:sp>
      <p:sp>
        <p:nvSpPr>
          <p:cNvPr id="9" name="Slide Number Placeholder 1">
            <a:extLst>
              <a:ext uri="{FF2B5EF4-FFF2-40B4-BE49-F238E27FC236}">
                <a16:creationId xmlns:a16="http://schemas.microsoft.com/office/drawing/2014/main" id="{A8EBF641-5288-A34C-F8B7-0C6C9CC56BDE}"/>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13</a:t>
            </a:fld>
            <a:endParaRPr lang="en-US"/>
          </a:p>
        </p:txBody>
      </p:sp>
      <p:sp>
        <p:nvSpPr>
          <p:cNvPr id="10" name="Content Placeholder 2">
            <a:extLst>
              <a:ext uri="{FF2B5EF4-FFF2-40B4-BE49-F238E27FC236}">
                <a16:creationId xmlns:a16="http://schemas.microsoft.com/office/drawing/2014/main" id="{C6E693C8-E225-21F6-15AF-639A7E3F12C5}"/>
              </a:ext>
            </a:extLst>
          </p:cNvPr>
          <p:cNvSpPr txBox="1">
            <a:spLocks/>
          </p:cNvSpPr>
          <p:nvPr/>
        </p:nvSpPr>
        <p:spPr bwMode="auto">
          <a:xfrm>
            <a:off x="254304" y="614207"/>
            <a:ext cx="8592926" cy="1210806"/>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Salaries, Wages, and Benefits</a:t>
            </a:r>
          </a:p>
          <a:p>
            <a:r>
              <a:rPr lang="en-US" sz="900" dirty="0"/>
              <a:t>Salaries &amp; Wages $1.17M actual vs $1.31M budget — $136K favorable (+10%).</a:t>
            </a:r>
          </a:p>
          <a:p>
            <a:r>
              <a:rPr lang="en-US" sz="900" dirty="0"/>
              <a:t>PPD: $459.20 actual vs $512.49 budget.</a:t>
            </a:r>
          </a:p>
          <a:p>
            <a:r>
              <a:rPr lang="en-US" sz="900" dirty="0"/>
              <a:t>YTD: $4.70M actual vs $4.85M budget — $148K favorable.</a:t>
            </a:r>
          </a:p>
          <a:p>
            <a:r>
              <a:rPr lang="en-US" sz="900" dirty="0"/>
              <a:t>Our paid EPOB is 1% under budget.</a:t>
            </a:r>
          </a:p>
          <a:p>
            <a:r>
              <a:rPr lang="en-US" sz="900" dirty="0"/>
              <a:t>We continue for flex down well with a direct care EPOB of</a:t>
            </a:r>
          </a:p>
          <a:p>
            <a:pPr marL="0" indent="0" defTabSz="914400">
              <a:spcBef>
                <a:spcPts val="400"/>
              </a:spcBef>
              <a:buNone/>
              <a:defRPr/>
            </a:pPr>
            <a:endParaRPr lang="en-US" sz="900" dirty="0">
              <a:solidFill>
                <a:prstClr val="black"/>
              </a:solidFill>
              <a:latin typeface="+mn-lt"/>
              <a:ea typeface="Calibri"/>
              <a:cs typeface="Calibri"/>
            </a:endParaRPr>
          </a:p>
        </p:txBody>
      </p:sp>
      <p:sp>
        <p:nvSpPr>
          <p:cNvPr id="3" name="Content Placeholder 2">
            <a:extLst>
              <a:ext uri="{FF2B5EF4-FFF2-40B4-BE49-F238E27FC236}">
                <a16:creationId xmlns:a16="http://schemas.microsoft.com/office/drawing/2014/main" id="{D1D4D4C5-177B-7120-6DA3-54C2D7156347}"/>
              </a:ext>
            </a:extLst>
          </p:cNvPr>
          <p:cNvSpPr txBox="1">
            <a:spLocks/>
          </p:cNvSpPr>
          <p:nvPr/>
        </p:nvSpPr>
        <p:spPr bwMode="auto">
          <a:xfrm>
            <a:off x="250904" y="1877072"/>
            <a:ext cx="8578771" cy="771172"/>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Purchased Services</a:t>
            </a:r>
          </a:p>
          <a:p>
            <a:r>
              <a:rPr lang="en-US" sz="900" dirty="0"/>
              <a:t>Purchased Services $157K actual vs $169K budget — $12K favorable (+7%).</a:t>
            </a:r>
          </a:p>
          <a:p>
            <a:r>
              <a:rPr lang="en-US" sz="900" dirty="0"/>
              <a:t>We continue to monitor this category for expense management opportunities.</a:t>
            </a:r>
            <a:endParaRPr lang="en-US" sz="900" dirty="0">
              <a:solidFill>
                <a:prstClr val="black"/>
              </a:solidFill>
              <a:latin typeface="Calibri" panose="020F0502020204030204"/>
              <a:ea typeface="Calibri"/>
              <a:cs typeface="Calibri"/>
            </a:endParaRPr>
          </a:p>
          <a:p>
            <a:pPr marL="0" indent="0" defTabSz="914400">
              <a:spcBef>
                <a:spcPts val="400"/>
              </a:spcBef>
              <a:buNone/>
              <a:defRPr/>
            </a:pPr>
            <a:endParaRPr lang="en-US" sz="900" dirty="0">
              <a:solidFill>
                <a:prstClr val="black"/>
              </a:solidFill>
              <a:latin typeface="+mn-lt"/>
            </a:endParaRPr>
          </a:p>
        </p:txBody>
      </p:sp>
      <p:sp>
        <p:nvSpPr>
          <p:cNvPr id="4" name="Content Placeholder 2">
            <a:extLst>
              <a:ext uri="{FF2B5EF4-FFF2-40B4-BE49-F238E27FC236}">
                <a16:creationId xmlns:a16="http://schemas.microsoft.com/office/drawing/2014/main" id="{6E9B5B22-11C0-0816-FD5B-F50C23BB047D}"/>
              </a:ext>
            </a:extLst>
          </p:cNvPr>
          <p:cNvSpPr txBox="1">
            <a:spLocks/>
          </p:cNvSpPr>
          <p:nvPr/>
        </p:nvSpPr>
        <p:spPr bwMode="auto">
          <a:xfrm>
            <a:off x="250904" y="2700303"/>
            <a:ext cx="8578771" cy="1306240"/>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Pro Fees: </a:t>
            </a:r>
          </a:p>
          <a:p>
            <a:r>
              <a:rPr lang="en-US" sz="900" dirty="0">
                <a:latin typeface="Arial"/>
                <a:cs typeface="Arial"/>
              </a:rPr>
              <a:t>Professional Fees $99K actual vs $72K budget — $27K unfavorable (-38%).</a:t>
            </a:r>
          </a:p>
          <a:p>
            <a:r>
              <a:rPr lang="en-US" sz="900" dirty="0">
                <a:latin typeface="Arial"/>
                <a:cs typeface="Arial"/>
              </a:rPr>
              <a:t>We are down one nurse practitioner and are filling this gap with a PRN.  We are actively recruiting to fill this position</a:t>
            </a:r>
            <a:r>
              <a:rPr lang="en-US" sz="900" dirty="0">
                <a:highlight>
                  <a:srgbClr val="FFFF00"/>
                </a:highlight>
                <a:latin typeface="Arial"/>
                <a:cs typeface="Arial"/>
              </a:rPr>
              <a:t>.</a:t>
            </a:r>
          </a:p>
          <a:p>
            <a:endParaRPr lang="en-US" sz="900" dirty="0">
              <a:solidFill>
                <a:prstClr val="black"/>
              </a:solidFill>
              <a:latin typeface="+mn-lt"/>
              <a:ea typeface="Calibri"/>
              <a:cs typeface="Calibri"/>
            </a:endParaRPr>
          </a:p>
          <a:p>
            <a:pPr marL="0" indent="0" defTabSz="914400">
              <a:spcBef>
                <a:spcPts val="400"/>
              </a:spcBef>
              <a:buNone/>
              <a:defRPr/>
            </a:pPr>
            <a:endParaRPr lang="en-US" sz="900" dirty="0">
              <a:solidFill>
                <a:prstClr val="black"/>
              </a:solidFill>
              <a:latin typeface="+mn-lt"/>
            </a:endParaRPr>
          </a:p>
        </p:txBody>
      </p:sp>
      <p:sp>
        <p:nvSpPr>
          <p:cNvPr id="11" name="Content Placeholder 2">
            <a:extLst>
              <a:ext uri="{FF2B5EF4-FFF2-40B4-BE49-F238E27FC236}">
                <a16:creationId xmlns:a16="http://schemas.microsoft.com/office/drawing/2014/main" id="{B98215B8-FED6-2636-C156-EB21E213A6D0}"/>
              </a:ext>
            </a:extLst>
          </p:cNvPr>
          <p:cNvSpPr txBox="1">
            <a:spLocks/>
          </p:cNvSpPr>
          <p:nvPr/>
        </p:nvSpPr>
        <p:spPr bwMode="auto">
          <a:xfrm>
            <a:off x="275535" y="4058602"/>
            <a:ext cx="8585848" cy="1253865"/>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dirty="0">
                <a:solidFill>
                  <a:prstClr val="black"/>
                </a:solidFill>
                <a:latin typeface="+mn-lt"/>
              </a:rPr>
              <a:t>Supplies</a:t>
            </a:r>
          </a:p>
          <a:p>
            <a:r>
              <a:rPr lang="en-US" sz="900" dirty="0"/>
              <a:t>Supplies $87K actual vs $106K budget — $19K favorable (+18%).</a:t>
            </a:r>
          </a:p>
          <a:p>
            <a:r>
              <a:rPr lang="en-US" sz="900" dirty="0"/>
              <a:t>PPD: $34.06 actual vs $41.33 budget.</a:t>
            </a:r>
          </a:p>
          <a:p>
            <a:r>
              <a:rPr lang="en-US" sz="900" dirty="0"/>
              <a:t>YTD: $307K actual vs $412K budget — $104K favorable.</a:t>
            </a:r>
          </a:p>
          <a:p>
            <a:pPr marL="0" indent="0" defTabSz="914400">
              <a:spcBef>
                <a:spcPts val="400"/>
              </a:spcBef>
              <a:spcAft>
                <a:spcPts val="0"/>
              </a:spcAft>
              <a:buNone/>
              <a:defRPr/>
            </a:pPr>
            <a:endParaRPr lang="en-US" sz="900" dirty="0">
              <a:solidFill>
                <a:prstClr val="black"/>
              </a:solidFill>
              <a:latin typeface="+mn-lt"/>
              <a:ea typeface="Calibri"/>
              <a:cs typeface="Calibri"/>
            </a:endParaRPr>
          </a:p>
        </p:txBody>
      </p:sp>
      <p:sp>
        <p:nvSpPr>
          <p:cNvPr id="12" name="Content Placeholder 2">
            <a:extLst>
              <a:ext uri="{FF2B5EF4-FFF2-40B4-BE49-F238E27FC236}">
                <a16:creationId xmlns:a16="http://schemas.microsoft.com/office/drawing/2014/main" id="{58757C08-0321-991C-C472-33C19D91191A}"/>
              </a:ext>
            </a:extLst>
          </p:cNvPr>
          <p:cNvSpPr txBox="1">
            <a:spLocks/>
          </p:cNvSpPr>
          <p:nvPr/>
        </p:nvSpPr>
        <p:spPr bwMode="auto">
          <a:xfrm>
            <a:off x="282612" y="5364526"/>
            <a:ext cx="8578771" cy="1182323"/>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a:solidFill>
                  <a:prstClr val="black"/>
                </a:solidFill>
                <a:latin typeface="+mn-lt"/>
              </a:rPr>
              <a:t>Other Expense</a:t>
            </a:r>
          </a:p>
          <a:p>
            <a:r>
              <a:rPr lang="en-US" sz="900"/>
              <a:t>Repairs &amp; Maintenance $23K actual vs $35K budget — $12K favorable (+34%).</a:t>
            </a:r>
          </a:p>
          <a:p>
            <a:r>
              <a:rPr lang="en-US" sz="900"/>
              <a:t>Other Operating $39K actual vs $37K budget — $2K unfavorable (-5%).</a:t>
            </a:r>
          </a:p>
          <a:p>
            <a:pPr defTabSz="914400">
              <a:buFont typeface="Arial"/>
              <a:buChar char="•"/>
              <a:defRPr/>
            </a:pPr>
            <a:endParaRPr lang="en-US" sz="900">
              <a:solidFill>
                <a:srgbClr val="2C3E50"/>
              </a:solidFill>
              <a:latin typeface="Arial"/>
              <a:ea typeface="Calibri"/>
              <a:cs typeface="Arial"/>
            </a:endParaRPr>
          </a:p>
          <a:p>
            <a:pPr marL="0" indent="0" defTabSz="914400">
              <a:spcBef>
                <a:spcPts val="400"/>
              </a:spcBef>
              <a:buNone/>
              <a:defRPr/>
            </a:pPr>
            <a:endParaRPr lang="en-US" sz="900">
              <a:solidFill>
                <a:prstClr val="black"/>
              </a:solidFill>
              <a:latin typeface="+mn-lt"/>
              <a:ea typeface="Calibri"/>
              <a:cs typeface="Calibri"/>
            </a:endParaRPr>
          </a:p>
        </p:txBody>
      </p:sp>
    </p:spTree>
    <p:extLst>
      <p:ext uri="{BB962C8B-B14F-4D97-AF65-F5344CB8AC3E}">
        <p14:creationId xmlns:p14="http://schemas.microsoft.com/office/powerpoint/2010/main" val="3273688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D5D8E-D954-1657-CC0C-F0DBA304D348}"/>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C7EEAB0-7FEB-C36C-A2F4-5DDBE73C141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6C7EEAB0-7FEB-C36C-A2F4-5DDBE73C141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AFBC9EDC-1370-B637-D664-CF6B1F0E9B0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067C52B8-88E6-7A50-8913-235F95315B53}"/>
              </a:ext>
            </a:extLst>
          </p:cNvPr>
          <p:cNvSpPr>
            <a:spLocks noGrp="1"/>
          </p:cNvSpPr>
          <p:nvPr>
            <p:ph type="title"/>
          </p:nvPr>
        </p:nvSpPr>
        <p:spPr/>
        <p:txBody>
          <a:bodyPr vert="horz" lIns="91440" tIns="45720" rIns="91440" bIns="45720" rtlCol="0" anchor="ctr">
            <a:normAutofit/>
          </a:bodyPr>
          <a:lstStyle/>
          <a:p>
            <a:pPr algn="ctr"/>
            <a:r>
              <a:rPr lang="en-US"/>
              <a:t>April 2026 – Human Resources – Highland</a:t>
            </a:r>
          </a:p>
        </p:txBody>
      </p:sp>
      <p:sp>
        <p:nvSpPr>
          <p:cNvPr id="9" name="Slide Number Placeholder 1">
            <a:extLst>
              <a:ext uri="{FF2B5EF4-FFF2-40B4-BE49-F238E27FC236}">
                <a16:creationId xmlns:a16="http://schemas.microsoft.com/office/drawing/2014/main" id="{C74B5435-2ACC-3A1B-82B5-0EC7868C7A47}"/>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14</a:t>
            </a:fld>
            <a:endParaRPr lang="en-US"/>
          </a:p>
        </p:txBody>
      </p:sp>
      <p:sp>
        <p:nvSpPr>
          <p:cNvPr id="10" name="Content Placeholder 2">
            <a:extLst>
              <a:ext uri="{FF2B5EF4-FFF2-40B4-BE49-F238E27FC236}">
                <a16:creationId xmlns:a16="http://schemas.microsoft.com/office/drawing/2014/main" id="{19D9B0D9-087E-3F59-6899-4BF50920A38B}"/>
              </a:ext>
            </a:extLst>
          </p:cNvPr>
          <p:cNvSpPr txBox="1">
            <a:spLocks/>
          </p:cNvSpPr>
          <p:nvPr/>
        </p:nvSpPr>
        <p:spPr bwMode="auto">
          <a:xfrm>
            <a:off x="327181" y="710016"/>
            <a:ext cx="8559561" cy="1302934"/>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1000" b="1" dirty="0">
                <a:solidFill>
                  <a:prstClr val="black"/>
                </a:solidFill>
                <a:highlight>
                  <a:srgbClr val="F5F5F5"/>
                </a:highlight>
                <a:latin typeface="Calibri"/>
                <a:ea typeface="Calibri"/>
                <a:cs typeface="Calibri"/>
              </a:rPr>
              <a:t>Turnover</a:t>
            </a:r>
            <a:r>
              <a:rPr lang="en-US" sz="1000" dirty="0">
                <a:solidFill>
                  <a:prstClr val="black"/>
                </a:solidFill>
                <a:highlight>
                  <a:srgbClr val="F5F5F5"/>
                </a:highlight>
                <a:latin typeface="Calibri"/>
                <a:ea typeface="Calibri"/>
                <a:cs typeface="Calibri"/>
              </a:rPr>
              <a:t>: </a:t>
            </a:r>
            <a:endParaRPr lang="en-US" sz="2400" dirty="0">
              <a:solidFill>
                <a:prstClr val="black"/>
              </a:solidFill>
              <a:cs typeface="Arial" charset="0"/>
            </a:endParaRPr>
          </a:p>
          <a:p>
            <a:pPr defTabSz="914400">
              <a:spcBef>
                <a:spcPts val="400"/>
              </a:spcBef>
              <a:defRPr/>
            </a:pPr>
            <a:r>
              <a:rPr lang="en-US" sz="900" dirty="0">
                <a:solidFill>
                  <a:prstClr val="black"/>
                </a:solidFill>
                <a:latin typeface="Calibri"/>
                <a:ea typeface="Calibri"/>
                <a:cs typeface="Calibri"/>
              </a:rPr>
              <a:t>April monthly turnover was 4.12% (annualized ~69.27%). YTD turnover is elevated due to a recalculation that now includes FT/PT employees who transitioned to PRN, which were not previously counted.</a:t>
            </a:r>
            <a:endParaRPr lang="en-US" sz="2400" dirty="0">
              <a:solidFill>
                <a:prstClr val="black"/>
              </a:solidFill>
            </a:endParaRPr>
          </a:p>
          <a:p>
            <a:pPr defTabSz="914400">
              <a:spcBef>
                <a:spcPts val="400"/>
              </a:spcBef>
              <a:defRPr/>
            </a:pPr>
            <a:r>
              <a:rPr lang="en-US" sz="900" dirty="0">
                <a:solidFill>
                  <a:prstClr val="black"/>
                </a:solidFill>
                <a:latin typeface="Calibri"/>
                <a:ea typeface="Calibri"/>
                <a:cs typeface="Calibri"/>
              </a:rPr>
              <a:t>Involuntary terminations have decreased and projected 90-day turnover is expected to be approximately 23% lower than last year.  This improvement is attributed to increased leadership involvement in the interview and selection process.</a:t>
            </a:r>
          </a:p>
          <a:p>
            <a:pPr marL="0" indent="0" defTabSz="914400">
              <a:spcBef>
                <a:spcPts val="400"/>
              </a:spcBef>
              <a:buNone/>
              <a:defRPr/>
            </a:pPr>
            <a:endParaRPr lang="en-US" sz="900" dirty="0">
              <a:solidFill>
                <a:prstClr val="black"/>
              </a:solidFill>
              <a:latin typeface="Calibri"/>
              <a:ea typeface="Calibri"/>
              <a:cs typeface="Calibri"/>
            </a:endParaRPr>
          </a:p>
          <a:p>
            <a:pPr marL="0" indent="0" defTabSz="914400">
              <a:spcBef>
                <a:spcPts val="400"/>
              </a:spcBef>
              <a:buNone/>
              <a:defRPr/>
            </a:pPr>
            <a:endParaRPr lang="en-US" sz="900" dirty="0">
              <a:solidFill>
                <a:prstClr val="black"/>
              </a:solidFill>
              <a:latin typeface="Calibri"/>
              <a:ea typeface="Calibri"/>
              <a:cs typeface="Calibri"/>
            </a:endParaRPr>
          </a:p>
        </p:txBody>
      </p:sp>
      <p:sp>
        <p:nvSpPr>
          <p:cNvPr id="3" name="Content Placeholder 2">
            <a:extLst>
              <a:ext uri="{FF2B5EF4-FFF2-40B4-BE49-F238E27FC236}">
                <a16:creationId xmlns:a16="http://schemas.microsoft.com/office/drawing/2014/main" id="{AFDD21AE-2D58-40A3-D5A7-063D1E1AFA6E}"/>
              </a:ext>
            </a:extLst>
          </p:cNvPr>
          <p:cNvSpPr txBox="1">
            <a:spLocks/>
          </p:cNvSpPr>
          <p:nvPr/>
        </p:nvSpPr>
        <p:spPr bwMode="auto">
          <a:xfrm>
            <a:off x="327181" y="2050463"/>
            <a:ext cx="8578771" cy="1848437"/>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b="1">
                <a:solidFill>
                  <a:prstClr val="black"/>
                </a:solidFill>
                <a:latin typeface="Calibri"/>
                <a:ea typeface="Calibri"/>
                <a:cs typeface="Calibri"/>
              </a:rPr>
              <a:t>Open Positions:  </a:t>
            </a:r>
          </a:p>
          <a:p>
            <a:pPr defTabSz="914400">
              <a:spcBef>
                <a:spcPts val="400"/>
              </a:spcBef>
              <a:defRPr/>
            </a:pPr>
            <a:r>
              <a:rPr lang="en-US" sz="900">
                <a:solidFill>
                  <a:prstClr val="black"/>
                </a:solidFill>
                <a:latin typeface="Calibri"/>
                <a:ea typeface="Calibri"/>
                <a:cs typeface="Calibri"/>
              </a:rPr>
              <a:t>RN vacancies have decreased, with several critical night-shift positions now filled.  As new hires completed onboarding and training, overtime and incentive utilization is expected to decline.</a:t>
            </a:r>
          </a:p>
          <a:p>
            <a:pPr defTabSz="914400">
              <a:spcBef>
                <a:spcPts val="400"/>
              </a:spcBef>
              <a:defRPr/>
            </a:pPr>
            <a:r>
              <a:rPr lang="en-US" sz="900">
                <a:solidFill>
                  <a:prstClr val="black"/>
                </a:solidFill>
                <a:latin typeface="Calibri"/>
                <a:ea typeface="Calibri"/>
                <a:cs typeface="Calibri"/>
              </a:rPr>
              <a:t>The wage competitiveness analysis for intake, therapy, dietary, and housekeeping is complete, and is currently being reviewed by corporate.</a:t>
            </a:r>
          </a:p>
          <a:p>
            <a:pPr defTabSz="914400">
              <a:spcBef>
                <a:spcPts val="400"/>
              </a:spcBef>
              <a:defRPr/>
            </a:pPr>
            <a:r>
              <a:rPr lang="en-US" sz="900">
                <a:solidFill>
                  <a:prstClr val="black"/>
                </a:solidFill>
                <a:latin typeface="Calibri"/>
                <a:ea typeface="Calibri"/>
                <a:cs typeface="Calibri"/>
              </a:rPr>
              <a:t>The CL position has been filled, with the new hire starting on May 4, 2026. She brings strong connections in the central and northern regions of WV and is expected to make a positive and immediate impact.</a:t>
            </a:r>
          </a:p>
          <a:p>
            <a:pPr defTabSz="914400">
              <a:spcBef>
                <a:spcPts val="400"/>
              </a:spcBef>
              <a:defRPr/>
            </a:pPr>
            <a:r>
              <a:rPr lang="en-US" sz="900">
                <a:solidFill>
                  <a:prstClr val="black"/>
                </a:solidFill>
                <a:latin typeface="Calibri"/>
                <a:ea typeface="Calibri"/>
                <a:cs typeface="Calibri"/>
              </a:rPr>
              <a:t>Patient Account Rep position has been filled, and candidate will start in next few weeks.</a:t>
            </a:r>
          </a:p>
          <a:p>
            <a:pPr defTabSz="914400">
              <a:spcBef>
                <a:spcPts val="400"/>
              </a:spcBef>
              <a:defRPr/>
            </a:pPr>
            <a:r>
              <a:rPr lang="en-US" sz="900">
                <a:solidFill>
                  <a:prstClr val="black"/>
                </a:solidFill>
                <a:latin typeface="Calibri"/>
                <a:ea typeface="Calibri"/>
                <a:cs typeface="Calibri"/>
              </a:rPr>
              <a:t>Recruitment for staff on step-down unit has begun.</a:t>
            </a:r>
          </a:p>
        </p:txBody>
      </p:sp>
      <p:sp>
        <p:nvSpPr>
          <p:cNvPr id="5" name="Content Placeholder 2">
            <a:extLst>
              <a:ext uri="{FF2B5EF4-FFF2-40B4-BE49-F238E27FC236}">
                <a16:creationId xmlns:a16="http://schemas.microsoft.com/office/drawing/2014/main" id="{F4FB046D-5F10-B04E-B409-8DC3A7B1AF8C}"/>
              </a:ext>
            </a:extLst>
          </p:cNvPr>
          <p:cNvSpPr txBox="1">
            <a:spLocks/>
          </p:cNvSpPr>
          <p:nvPr/>
        </p:nvSpPr>
        <p:spPr bwMode="auto">
          <a:xfrm>
            <a:off x="327181" y="3987425"/>
            <a:ext cx="8578771" cy="2216525"/>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14400">
              <a:spcBef>
                <a:spcPts val="400"/>
              </a:spcBef>
              <a:buNone/>
              <a:defRPr/>
            </a:pPr>
            <a:r>
              <a:rPr lang="en-US" sz="900" b="1">
                <a:solidFill>
                  <a:prstClr val="black"/>
                </a:solidFill>
                <a:latin typeface="Calibri"/>
                <a:ea typeface="Calibri"/>
                <a:cs typeface="Calibri"/>
              </a:rPr>
              <a:t>Recruitment</a:t>
            </a:r>
          </a:p>
          <a:p>
            <a:pPr defTabSz="914400">
              <a:spcBef>
                <a:spcPts val="400"/>
              </a:spcBef>
              <a:defRPr/>
            </a:pPr>
            <a:r>
              <a:rPr lang="en-US" sz="900">
                <a:solidFill>
                  <a:prstClr val="black"/>
                </a:solidFill>
                <a:latin typeface="Calibri"/>
                <a:ea typeface="Calibri"/>
                <a:cs typeface="Calibri"/>
              </a:rPr>
              <a:t>HRD and CNO invited to serve on the West Virginia State University Nursing Advisory Board, contributing to discussions on recruitment needs and long-term workforce development for nursing students.   </a:t>
            </a:r>
          </a:p>
          <a:p>
            <a:pPr defTabSz="914400">
              <a:spcBef>
                <a:spcPts val="400"/>
              </a:spcBef>
              <a:defRPr/>
            </a:pPr>
            <a:r>
              <a:rPr lang="en-US" sz="900">
                <a:solidFill>
                  <a:prstClr val="black"/>
                </a:solidFill>
                <a:latin typeface="Calibri"/>
                <a:ea typeface="Calibri"/>
                <a:cs typeface="Calibri"/>
              </a:rPr>
              <a:t>HRD met with the new POC for WV Workforce Now and is currently evaluating upcoming events for Highland's participation.</a:t>
            </a:r>
          </a:p>
          <a:p>
            <a:pPr defTabSz="914400">
              <a:spcBef>
                <a:spcPts val="400"/>
              </a:spcBef>
              <a:defRPr/>
            </a:pPr>
            <a:endParaRPr lang="en-US" sz="900">
              <a:solidFill>
                <a:prstClr val="black"/>
              </a:solidFill>
              <a:latin typeface="Calibri"/>
              <a:ea typeface="Calibri"/>
              <a:cs typeface="Calibri"/>
            </a:endParaRPr>
          </a:p>
          <a:p>
            <a:pPr marL="0" indent="0" defTabSz="914400">
              <a:spcBef>
                <a:spcPts val="400"/>
              </a:spcBef>
              <a:buNone/>
              <a:defRPr/>
            </a:pPr>
            <a:r>
              <a:rPr lang="en-US" sz="900" b="1">
                <a:solidFill>
                  <a:prstClr val="black"/>
                </a:solidFill>
                <a:latin typeface="Calibri"/>
                <a:ea typeface="Calibri"/>
                <a:cs typeface="Calibri"/>
              </a:rPr>
              <a:t>Physician Recruitment: </a:t>
            </a:r>
          </a:p>
          <a:p>
            <a:pPr defTabSz="914400">
              <a:spcBef>
                <a:spcPts val="400"/>
              </a:spcBef>
              <a:defRPr/>
            </a:pPr>
            <a:r>
              <a:rPr lang="en-US" sz="900">
                <a:solidFill>
                  <a:prstClr val="black"/>
                </a:solidFill>
                <a:latin typeface="Calibri"/>
                <a:ea typeface="Calibri"/>
                <a:cs typeface="Calibri"/>
              </a:rPr>
              <a:t>Dr. Shick’s acceptance is a significant win. She is a returning child psychiatrist with established facility relationships.  Anticipated start is July.</a:t>
            </a:r>
          </a:p>
          <a:p>
            <a:pPr defTabSz="914400">
              <a:spcBef>
                <a:spcPts val="400"/>
              </a:spcBef>
              <a:defRPr/>
            </a:pPr>
            <a:r>
              <a:rPr lang="en-US" sz="900">
                <a:solidFill>
                  <a:prstClr val="black"/>
                </a:solidFill>
                <a:latin typeface="Calibri"/>
                <a:ea typeface="Calibri"/>
                <a:cs typeface="Calibri"/>
              </a:rPr>
              <a:t>On-site child/adolescent psychiatric coverage directly supports the C/A volume strategy and DPP optimization.</a:t>
            </a:r>
          </a:p>
          <a:p>
            <a:pPr defTabSz="914400">
              <a:spcBef>
                <a:spcPts val="400"/>
              </a:spcBef>
              <a:defRPr/>
            </a:pPr>
            <a:r>
              <a:rPr lang="en-US" sz="900">
                <a:solidFill>
                  <a:prstClr val="black"/>
                </a:solidFill>
                <a:latin typeface="Calibri"/>
                <a:ea typeface="Calibri"/>
                <a:cs typeface="Calibri"/>
              </a:rPr>
              <a:t>Additional interview scheduled </a:t>
            </a:r>
            <a:r>
              <a:rPr lang="en-US" sz="900" err="1">
                <a:solidFill>
                  <a:prstClr val="black"/>
                </a:solidFill>
                <a:latin typeface="Calibri"/>
                <a:ea typeface="Calibri"/>
                <a:cs typeface="Calibri"/>
              </a:rPr>
              <a:t>wth</a:t>
            </a:r>
            <a:r>
              <a:rPr lang="en-US" sz="900">
                <a:solidFill>
                  <a:prstClr val="black"/>
                </a:solidFill>
                <a:latin typeface="Calibri"/>
                <a:ea typeface="Calibri"/>
                <a:cs typeface="Calibri"/>
              </a:rPr>
              <a:t> NP with strong psych experience.</a:t>
            </a:r>
          </a:p>
          <a:p>
            <a:pPr defTabSz="914400">
              <a:spcBef>
                <a:spcPts val="400"/>
              </a:spcBef>
              <a:defRPr/>
            </a:pPr>
            <a:endParaRPr lang="en-US" sz="900">
              <a:solidFill>
                <a:prstClr val="black"/>
              </a:solidFill>
              <a:latin typeface="Calibri"/>
              <a:ea typeface="Calibri"/>
              <a:cs typeface="Calibri"/>
            </a:endParaRPr>
          </a:p>
          <a:p>
            <a:pPr defTabSz="914400">
              <a:spcBef>
                <a:spcPts val="400"/>
              </a:spcBef>
              <a:defRPr/>
            </a:pPr>
            <a:endParaRPr lang="en-US" sz="900">
              <a:solidFill>
                <a:prstClr val="black"/>
              </a:solidFill>
              <a:latin typeface="Calibri"/>
              <a:ea typeface="Calibri"/>
              <a:cs typeface="Calibri"/>
            </a:endParaRPr>
          </a:p>
        </p:txBody>
      </p:sp>
    </p:spTree>
    <p:extLst>
      <p:ext uri="{BB962C8B-B14F-4D97-AF65-F5344CB8AC3E}">
        <p14:creationId xmlns:p14="http://schemas.microsoft.com/office/powerpoint/2010/main" val="349137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4F1C8-5114-B814-F5A2-3C76D5D81762}"/>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9B81D8F-E146-6DD2-9C4E-0E47A42961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B9B81D8F-E146-6DD2-9C4E-0E47A429611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C9D3D23-858E-2A86-8B72-B7294F8C22DF}"/>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3D0C6707-AAA4-B536-5BA6-3C42F0F4BF6A}"/>
              </a:ext>
            </a:extLst>
          </p:cNvPr>
          <p:cNvSpPr>
            <a:spLocks noGrp="1"/>
          </p:cNvSpPr>
          <p:nvPr>
            <p:ph type="title"/>
          </p:nvPr>
        </p:nvSpPr>
        <p:spPr>
          <a:xfrm>
            <a:off x="250903" y="81376"/>
            <a:ext cx="8597822" cy="680626"/>
          </a:xfrm>
        </p:spPr>
        <p:txBody>
          <a:bodyPr vert="horz" lIns="91440" tIns="45720" rIns="91440" bIns="45720" rtlCol="0" anchor="ctr">
            <a:normAutofit/>
          </a:bodyPr>
          <a:lstStyle/>
          <a:p>
            <a:pPr algn="ctr"/>
            <a:r>
              <a:rPr lang="en-US"/>
              <a:t>April 2026 – Business Development – Highland Hospital</a:t>
            </a:r>
          </a:p>
        </p:txBody>
      </p:sp>
      <p:sp>
        <p:nvSpPr>
          <p:cNvPr id="9" name="Slide Number Placeholder 1">
            <a:extLst>
              <a:ext uri="{FF2B5EF4-FFF2-40B4-BE49-F238E27FC236}">
                <a16:creationId xmlns:a16="http://schemas.microsoft.com/office/drawing/2014/main" id="{AD70B129-4EA0-826F-F619-ED86F778D95D}"/>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15</a:t>
            </a:fld>
            <a:endParaRPr lang="en-US"/>
          </a:p>
        </p:txBody>
      </p:sp>
      <p:sp>
        <p:nvSpPr>
          <p:cNvPr id="10" name="Content Placeholder 2">
            <a:extLst>
              <a:ext uri="{FF2B5EF4-FFF2-40B4-BE49-F238E27FC236}">
                <a16:creationId xmlns:a16="http://schemas.microsoft.com/office/drawing/2014/main" id="{F187AE18-3DFC-013B-A8E7-55362A98438D}"/>
              </a:ext>
            </a:extLst>
          </p:cNvPr>
          <p:cNvSpPr txBox="1">
            <a:spLocks/>
          </p:cNvSpPr>
          <p:nvPr/>
        </p:nvSpPr>
        <p:spPr bwMode="auto">
          <a:xfrm>
            <a:off x="226299" y="1886673"/>
            <a:ext cx="8622426" cy="4311569"/>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900" b="1">
                <a:latin typeface="Arial"/>
                <a:ea typeface="Arial"/>
                <a:cs typeface="Arial"/>
              </a:rPr>
              <a:t>BD Staffing Coverage: </a:t>
            </a:r>
            <a:endParaRPr lang="en-US" sz="900" b="1">
              <a:ea typeface="Arial"/>
              <a:cs typeface="Arial" charset="0"/>
            </a:endParaRPr>
          </a:p>
          <a:p>
            <a:pPr marL="0" indent="0">
              <a:buNone/>
            </a:pPr>
            <a:r>
              <a:rPr lang="en-US" sz="900">
                <a:latin typeface="Arial"/>
                <a:ea typeface="Arial"/>
                <a:cs typeface="Arial"/>
              </a:rPr>
              <a:t>CL position has been filled with start date of 5/4/26 </a:t>
            </a:r>
          </a:p>
          <a:p>
            <a:pPr marL="0" indent="0">
              <a:buNone/>
            </a:pPr>
            <a:endParaRPr lang="en-US" sz="900">
              <a:latin typeface="Arial"/>
              <a:ea typeface="Arial"/>
              <a:cs typeface="Arial"/>
            </a:endParaRPr>
          </a:p>
          <a:p>
            <a:pPr marL="0" indent="0">
              <a:buNone/>
            </a:pPr>
            <a:r>
              <a:rPr lang="en-US" sz="900" b="1">
                <a:latin typeface="Arial"/>
                <a:ea typeface="Arial"/>
                <a:cs typeface="Arial"/>
              </a:rPr>
              <a:t>External and Internal Factors Impacting Volume: </a:t>
            </a:r>
          </a:p>
          <a:p>
            <a:pPr marL="0" indent="0">
              <a:buNone/>
            </a:pPr>
            <a:r>
              <a:rPr lang="en-US" sz="900">
                <a:latin typeface="Arial"/>
                <a:ea typeface="Arial"/>
                <a:cs typeface="Arial"/>
              </a:rPr>
              <a:t>Continuing rolling county Spring breaks through April 20</a:t>
            </a:r>
            <a:r>
              <a:rPr lang="en-US" sz="900" baseline="30000">
                <a:latin typeface="Arial"/>
                <a:ea typeface="Arial"/>
                <a:cs typeface="Arial"/>
              </a:rPr>
              <a:t>th</a:t>
            </a:r>
            <a:r>
              <a:rPr lang="en-US" sz="900">
                <a:latin typeface="Arial"/>
                <a:ea typeface="Arial"/>
                <a:cs typeface="Arial"/>
              </a:rPr>
              <a:t>.  </a:t>
            </a:r>
          </a:p>
          <a:p>
            <a:pPr marL="0" indent="0">
              <a:buNone/>
            </a:pPr>
            <a:endParaRPr lang="en-US" sz="900">
              <a:latin typeface="Arial"/>
              <a:ea typeface="Arial"/>
              <a:cs typeface="Arial"/>
            </a:endParaRPr>
          </a:p>
          <a:p>
            <a:pPr marL="0" indent="0">
              <a:buNone/>
            </a:pPr>
            <a:r>
              <a:rPr lang="en-US" sz="900" b="1">
                <a:latin typeface="Arial"/>
                <a:ea typeface="Arial"/>
                <a:cs typeface="Arial"/>
              </a:rPr>
              <a:t>Prior Month &amp; Prior Year Comparison:</a:t>
            </a:r>
          </a:p>
          <a:p>
            <a:pPr marL="0" indent="0">
              <a:buNone/>
            </a:pPr>
            <a:r>
              <a:rPr lang="en-US" sz="900">
                <a:ea typeface="Calibri"/>
                <a:cs typeface="Arial" charset="0"/>
              </a:rPr>
              <a:t>678 Total inquiries:  -35 PM; +88 PY</a:t>
            </a:r>
          </a:p>
          <a:p>
            <a:pPr marL="0" indent="0">
              <a:buNone/>
            </a:pPr>
            <a:r>
              <a:rPr lang="en-US" sz="900">
                <a:ea typeface="Calibri"/>
                <a:cs typeface="Arial" charset="0"/>
              </a:rPr>
              <a:t>467 Field inquiries: -34 PM;  +67 PY</a:t>
            </a:r>
          </a:p>
          <a:p>
            <a:pPr marL="0" indent="0">
              <a:buNone/>
            </a:pPr>
            <a:r>
              <a:rPr lang="en-US" sz="900">
                <a:ea typeface="Calibri"/>
                <a:cs typeface="Arial" charset="0"/>
              </a:rPr>
              <a:t>245 Total admissions: -14 PM; +5 PY</a:t>
            </a:r>
          </a:p>
          <a:p>
            <a:pPr marL="0" indent="0">
              <a:buNone/>
            </a:pPr>
            <a:r>
              <a:rPr lang="en-US" sz="900">
                <a:ea typeface="Calibri"/>
                <a:cs typeface="Arial" charset="0"/>
              </a:rPr>
              <a:t>Conversion 36%; consistent with prior month</a:t>
            </a:r>
          </a:p>
          <a:p>
            <a:pPr marL="0" indent="0">
              <a:buNone/>
            </a:pPr>
            <a:endParaRPr lang="en-US" sz="1000">
              <a:cs typeface="Arial" charset="0"/>
            </a:endParaRPr>
          </a:p>
          <a:p>
            <a:pPr marL="0" indent="0">
              <a:buNone/>
            </a:pPr>
            <a:r>
              <a:rPr lang="en-US" sz="900"/>
              <a:t>April closed with 678 total inquiries, reflecting a variance of -35 versus prior month and +88 versus prior year. Of the total, 467 inquiries were generated from field activity, representing -34 versus prior month and +67 versus prior year.</a:t>
            </a:r>
          </a:p>
          <a:p>
            <a:pPr marL="0" indent="0">
              <a:buNone/>
            </a:pPr>
            <a:endParaRPr lang="en-US" sz="900"/>
          </a:p>
          <a:p>
            <a:pPr marL="0" indent="0">
              <a:buNone/>
            </a:pPr>
            <a:r>
              <a:rPr lang="en-US" sz="900"/>
              <a:t>Total admissions finished at 245 reflecting -14 versus prior month and +5 versus prior year, while conversion was at 36 percent remaining consistent with prior month.</a:t>
            </a:r>
          </a:p>
          <a:p>
            <a:pPr marL="0" indent="0">
              <a:buNone/>
            </a:pPr>
            <a:endParaRPr lang="en-US" sz="1000">
              <a:ea typeface="Calibri"/>
              <a:cs typeface="Arial" charset="0"/>
            </a:endParaRPr>
          </a:p>
          <a:p>
            <a:pPr marL="0" indent="0">
              <a:buNone/>
            </a:pPr>
            <a:endParaRPr lang="en-US" sz="1000">
              <a:ea typeface="Calibri"/>
              <a:cs typeface="Arial" charset="0"/>
            </a:endParaRPr>
          </a:p>
        </p:txBody>
      </p:sp>
      <p:pic>
        <p:nvPicPr>
          <p:cNvPr id="14" name="Picture 13">
            <a:extLst>
              <a:ext uri="{FF2B5EF4-FFF2-40B4-BE49-F238E27FC236}">
                <a16:creationId xmlns:a16="http://schemas.microsoft.com/office/drawing/2014/main" id="{83294A0E-D12B-0A31-261E-FE822E774B63}"/>
              </a:ext>
            </a:extLst>
          </p:cNvPr>
          <p:cNvPicPr>
            <a:picLocks noChangeAspect="1"/>
          </p:cNvPicPr>
          <p:nvPr/>
        </p:nvPicPr>
        <p:blipFill>
          <a:blip r:embed="rId7"/>
          <a:stretch>
            <a:fillRect/>
          </a:stretch>
        </p:blipFill>
        <p:spPr>
          <a:xfrm>
            <a:off x="219495" y="659758"/>
            <a:ext cx="8622426" cy="1057862"/>
          </a:xfrm>
          <a:prstGeom prst="rect">
            <a:avLst/>
          </a:prstGeom>
        </p:spPr>
      </p:pic>
      <p:graphicFrame>
        <p:nvGraphicFramePr>
          <p:cNvPr id="3" name="Table 2">
            <a:extLst>
              <a:ext uri="{FF2B5EF4-FFF2-40B4-BE49-F238E27FC236}">
                <a16:creationId xmlns:a16="http://schemas.microsoft.com/office/drawing/2014/main" id="{B111CF75-7B03-A5C0-85C5-A06DD12A43E8}"/>
              </a:ext>
            </a:extLst>
          </p:cNvPr>
          <p:cNvGraphicFramePr>
            <a:graphicFrameLocks noGrp="1"/>
          </p:cNvGraphicFramePr>
          <p:nvPr/>
        </p:nvGraphicFramePr>
        <p:xfrm>
          <a:off x="212691" y="659758"/>
          <a:ext cx="8619421" cy="1057860"/>
        </p:xfrm>
        <a:graphic>
          <a:graphicData uri="http://schemas.openxmlformats.org/drawingml/2006/table">
            <a:tbl>
              <a:tblPr>
                <a:tableStyleId>{5C22544A-7EE6-4342-B048-85BDC9FD1C3A}</a:tableStyleId>
              </a:tblPr>
              <a:tblGrid>
                <a:gridCol w="2039696">
                  <a:extLst>
                    <a:ext uri="{9D8B030D-6E8A-4147-A177-3AD203B41FA5}">
                      <a16:colId xmlns:a16="http://schemas.microsoft.com/office/drawing/2014/main" val="2591281862"/>
                    </a:ext>
                  </a:extLst>
                </a:gridCol>
                <a:gridCol w="554705">
                  <a:extLst>
                    <a:ext uri="{9D8B030D-6E8A-4147-A177-3AD203B41FA5}">
                      <a16:colId xmlns:a16="http://schemas.microsoft.com/office/drawing/2014/main" val="2858165998"/>
                    </a:ext>
                  </a:extLst>
                </a:gridCol>
                <a:gridCol w="491144">
                  <a:extLst>
                    <a:ext uri="{9D8B030D-6E8A-4147-A177-3AD203B41FA5}">
                      <a16:colId xmlns:a16="http://schemas.microsoft.com/office/drawing/2014/main" val="3898226929"/>
                    </a:ext>
                  </a:extLst>
                </a:gridCol>
                <a:gridCol w="491144">
                  <a:extLst>
                    <a:ext uri="{9D8B030D-6E8A-4147-A177-3AD203B41FA5}">
                      <a16:colId xmlns:a16="http://schemas.microsoft.com/office/drawing/2014/main" val="1717644869"/>
                    </a:ext>
                  </a:extLst>
                </a:gridCol>
                <a:gridCol w="491144">
                  <a:extLst>
                    <a:ext uri="{9D8B030D-6E8A-4147-A177-3AD203B41FA5}">
                      <a16:colId xmlns:a16="http://schemas.microsoft.com/office/drawing/2014/main" val="436656428"/>
                    </a:ext>
                  </a:extLst>
                </a:gridCol>
                <a:gridCol w="398694">
                  <a:extLst>
                    <a:ext uri="{9D8B030D-6E8A-4147-A177-3AD203B41FA5}">
                      <a16:colId xmlns:a16="http://schemas.microsoft.com/office/drawing/2014/main" val="2446651292"/>
                    </a:ext>
                  </a:extLst>
                </a:gridCol>
                <a:gridCol w="485366">
                  <a:extLst>
                    <a:ext uri="{9D8B030D-6E8A-4147-A177-3AD203B41FA5}">
                      <a16:colId xmlns:a16="http://schemas.microsoft.com/office/drawing/2014/main" val="175961608"/>
                    </a:ext>
                  </a:extLst>
                </a:gridCol>
                <a:gridCol w="491144">
                  <a:extLst>
                    <a:ext uri="{9D8B030D-6E8A-4147-A177-3AD203B41FA5}">
                      <a16:colId xmlns:a16="http://schemas.microsoft.com/office/drawing/2014/main" val="3918461991"/>
                    </a:ext>
                  </a:extLst>
                </a:gridCol>
                <a:gridCol w="491144">
                  <a:extLst>
                    <a:ext uri="{9D8B030D-6E8A-4147-A177-3AD203B41FA5}">
                      <a16:colId xmlns:a16="http://schemas.microsoft.com/office/drawing/2014/main" val="2474411514"/>
                    </a:ext>
                  </a:extLst>
                </a:gridCol>
                <a:gridCol w="491144">
                  <a:extLst>
                    <a:ext uri="{9D8B030D-6E8A-4147-A177-3AD203B41FA5}">
                      <a16:colId xmlns:a16="http://schemas.microsoft.com/office/drawing/2014/main" val="1456889202"/>
                    </a:ext>
                  </a:extLst>
                </a:gridCol>
                <a:gridCol w="491144">
                  <a:extLst>
                    <a:ext uri="{9D8B030D-6E8A-4147-A177-3AD203B41FA5}">
                      <a16:colId xmlns:a16="http://schemas.microsoft.com/office/drawing/2014/main" val="502893767"/>
                    </a:ext>
                  </a:extLst>
                </a:gridCol>
                <a:gridCol w="491144">
                  <a:extLst>
                    <a:ext uri="{9D8B030D-6E8A-4147-A177-3AD203B41FA5}">
                      <a16:colId xmlns:a16="http://schemas.microsoft.com/office/drawing/2014/main" val="3473239674"/>
                    </a:ext>
                  </a:extLst>
                </a:gridCol>
                <a:gridCol w="491144">
                  <a:extLst>
                    <a:ext uri="{9D8B030D-6E8A-4147-A177-3AD203B41FA5}">
                      <a16:colId xmlns:a16="http://schemas.microsoft.com/office/drawing/2014/main" val="1112757346"/>
                    </a:ext>
                  </a:extLst>
                </a:gridCol>
                <a:gridCol w="720664">
                  <a:extLst>
                    <a:ext uri="{9D8B030D-6E8A-4147-A177-3AD203B41FA5}">
                      <a16:colId xmlns:a16="http://schemas.microsoft.com/office/drawing/2014/main" val="528867840"/>
                    </a:ext>
                  </a:extLst>
                </a:gridCol>
              </a:tblGrid>
              <a:tr h="117540">
                <a:tc>
                  <a:txBody>
                    <a:bodyPr/>
                    <a:lstStyle/>
                    <a:p>
                      <a:pPr algn="l" fontAlgn="ctr">
                        <a:buNone/>
                      </a:pPr>
                      <a:r>
                        <a:rPr lang="en-US" sz="700" u="none" strike="noStrike">
                          <a:effectLst/>
                        </a:rPr>
                        <a:t>Call/Triage Volume Trends</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26-Jan</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26-Feb</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26-Mar</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26-Apr</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25-May</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25-Jun</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25-Jul</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25-Aug</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25-Sep</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25-Oct</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25-Nov</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25-Dec</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YTD</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1194036326"/>
                  </a:ext>
                </a:extLst>
              </a:tr>
              <a:tr h="117540">
                <a:tc>
                  <a:txBody>
                    <a:bodyPr/>
                    <a:lstStyle/>
                    <a:p>
                      <a:pPr algn="l" fontAlgn="ctr">
                        <a:buNone/>
                      </a:pPr>
                      <a:r>
                        <a:rPr lang="en-US" sz="700" u="none" strike="noStrike">
                          <a:effectLst/>
                        </a:rPr>
                        <a:t>Total Inquiries</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623</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619</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713</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678</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612</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599</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608</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640</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649</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753</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578</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534</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7518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3907931152"/>
                  </a:ext>
                </a:extLst>
              </a:tr>
              <a:tr h="117540">
                <a:tc>
                  <a:txBody>
                    <a:bodyPr/>
                    <a:lstStyle/>
                    <a:p>
                      <a:pPr algn="l" fontAlgn="ctr">
                        <a:buNone/>
                      </a:pPr>
                      <a:r>
                        <a:rPr lang="en-US" sz="700" u="none" strike="noStrike">
                          <a:effectLst/>
                        </a:rPr>
                        <a:t>Total Inquiries PY</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603</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601</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619</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590</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684</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599</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689</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773</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737</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741</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613</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661</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8038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3146851037"/>
                  </a:ext>
                </a:extLst>
              </a:tr>
              <a:tr h="117540">
                <a:tc>
                  <a:txBody>
                    <a:bodyPr/>
                    <a:lstStyle/>
                    <a:p>
                      <a:pPr algn="l" fontAlgn="ctr">
                        <a:buNone/>
                      </a:pPr>
                      <a:r>
                        <a:rPr lang="en-US" sz="700" u="none" strike="noStrike">
                          <a:effectLst/>
                        </a:rPr>
                        <a:t>Variance PY</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20 </a:t>
                      </a:r>
                      <a:endParaRPr lang="en-US" sz="700" b="1" i="0" u="none" strike="noStrike">
                        <a:solidFill>
                          <a:srgbClr val="4472C4"/>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18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94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b="0" i="0" u="none" strike="noStrike">
                          <a:solidFill>
                            <a:srgbClr val="000000"/>
                          </a:solidFill>
                          <a:effectLst/>
                          <a:latin typeface="Arial" panose="020B0604020202020204" pitchFamily="34" charset="0"/>
                        </a:rPr>
                        <a:t>88</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(72)</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(81)</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(133)</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(88)</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12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(35)</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(127)</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(520)</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1230508680"/>
                  </a:ext>
                </a:extLst>
              </a:tr>
              <a:tr h="117540">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4472C4"/>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3449227989"/>
                  </a:ext>
                </a:extLst>
              </a:tr>
              <a:tr h="117540">
                <a:tc>
                  <a:txBody>
                    <a:bodyPr/>
                    <a:lstStyle/>
                    <a:p>
                      <a:pPr algn="l" fontAlgn="ctr">
                        <a:buNone/>
                      </a:pPr>
                      <a:r>
                        <a:rPr lang="en-US" sz="700" u="none" strike="noStrike">
                          <a:effectLst/>
                        </a:rPr>
                        <a:t>Field Marketing Inquiries</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427</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440</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501</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467</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1368</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32295663"/>
                  </a:ext>
                </a:extLst>
              </a:tr>
              <a:tr h="117540">
                <a:tc>
                  <a:txBody>
                    <a:bodyPr/>
                    <a:lstStyle/>
                    <a:p>
                      <a:pPr algn="l" fontAlgn="ctr">
                        <a:buNone/>
                      </a:pPr>
                      <a:r>
                        <a:rPr lang="en-US" sz="700" u="none" strike="noStrike">
                          <a:effectLst/>
                        </a:rPr>
                        <a:t>Field Marketing Admits</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175</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196</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182</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172 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553</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498632693"/>
                  </a:ext>
                </a:extLst>
              </a:tr>
              <a:tr h="117540">
                <a:tc>
                  <a:txBody>
                    <a:bodyPr/>
                    <a:lstStyle/>
                    <a:p>
                      <a:pPr algn="l" fontAlgn="ctr">
                        <a:buNone/>
                      </a:pPr>
                      <a:r>
                        <a:rPr lang="en-US" sz="700" u="none" strike="noStrike">
                          <a:effectLst/>
                        </a:rPr>
                        <a:t>Triage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41.0%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44.5%</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36.3%</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40.4%</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1398476492"/>
                  </a:ext>
                </a:extLst>
              </a:tr>
              <a:tr h="117540">
                <a:tc>
                  <a:txBody>
                    <a:bodyPr/>
                    <a:lstStyle/>
                    <a:p>
                      <a:pPr algn="l" fontAlgn="ctr">
                        <a:buNone/>
                      </a:pPr>
                      <a:r>
                        <a:rPr lang="en-US" sz="700" u="none" strike="noStrike">
                          <a:effectLst/>
                        </a:rPr>
                        <a:t>FM % Total Calls</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68.5%</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71.1%</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70.3%</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18.2%</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1295024806"/>
                  </a:ext>
                </a:extLst>
              </a:tr>
            </a:tbl>
          </a:graphicData>
        </a:graphic>
      </p:graphicFrame>
    </p:spTree>
    <p:extLst>
      <p:ext uri="{BB962C8B-B14F-4D97-AF65-F5344CB8AC3E}">
        <p14:creationId xmlns:p14="http://schemas.microsoft.com/office/powerpoint/2010/main" val="3530544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6A022-B952-1FCE-01D2-B8CB231961BD}"/>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F7D889B9-3137-0FAA-420F-E8EF42220B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F7D889B9-3137-0FAA-420F-E8EF42220B0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DCA1E59-468B-56BF-4AAC-5A75AB522D6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044A7DEB-1DE4-D388-6962-C42DE22DA227}"/>
              </a:ext>
            </a:extLst>
          </p:cNvPr>
          <p:cNvSpPr>
            <a:spLocks noGrp="1"/>
          </p:cNvSpPr>
          <p:nvPr>
            <p:ph type="title"/>
          </p:nvPr>
        </p:nvSpPr>
        <p:spPr>
          <a:xfrm>
            <a:off x="231853" y="81376"/>
            <a:ext cx="8588297" cy="633001"/>
          </a:xfrm>
        </p:spPr>
        <p:txBody>
          <a:bodyPr vert="horz" lIns="91440" tIns="45720" rIns="91440" bIns="45720" rtlCol="0" anchor="ctr">
            <a:normAutofit/>
          </a:bodyPr>
          <a:lstStyle/>
          <a:p>
            <a:pPr algn="ctr"/>
            <a:r>
              <a:rPr lang="en-US"/>
              <a:t>April 2026 – Business Development – Highland Hospital</a:t>
            </a:r>
          </a:p>
        </p:txBody>
      </p:sp>
      <p:sp>
        <p:nvSpPr>
          <p:cNvPr id="9" name="Slide Number Placeholder 1">
            <a:extLst>
              <a:ext uri="{FF2B5EF4-FFF2-40B4-BE49-F238E27FC236}">
                <a16:creationId xmlns:a16="http://schemas.microsoft.com/office/drawing/2014/main" id="{D47C2A06-D0FE-EF42-438B-DFE13150A4F6}"/>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16</a:t>
            </a:fld>
            <a:endParaRPr lang="en-US"/>
          </a:p>
        </p:txBody>
      </p:sp>
      <p:pic>
        <p:nvPicPr>
          <p:cNvPr id="12" name="Picture 11">
            <a:extLst>
              <a:ext uri="{FF2B5EF4-FFF2-40B4-BE49-F238E27FC236}">
                <a16:creationId xmlns:a16="http://schemas.microsoft.com/office/drawing/2014/main" id="{F3C2002A-6E68-DEA4-3320-F3206B1847C0}"/>
              </a:ext>
            </a:extLst>
          </p:cNvPr>
          <p:cNvPicPr>
            <a:picLocks noChangeAspect="1"/>
          </p:cNvPicPr>
          <p:nvPr/>
        </p:nvPicPr>
        <p:blipFill>
          <a:blip r:embed="rId7"/>
          <a:stretch>
            <a:fillRect/>
          </a:stretch>
        </p:blipFill>
        <p:spPr>
          <a:xfrm>
            <a:off x="206493" y="876214"/>
            <a:ext cx="8741980" cy="818751"/>
          </a:xfrm>
          <a:prstGeom prst="rect">
            <a:avLst/>
          </a:prstGeom>
        </p:spPr>
      </p:pic>
      <p:pic>
        <p:nvPicPr>
          <p:cNvPr id="15" name="Picture 14">
            <a:extLst>
              <a:ext uri="{FF2B5EF4-FFF2-40B4-BE49-F238E27FC236}">
                <a16:creationId xmlns:a16="http://schemas.microsoft.com/office/drawing/2014/main" id="{A310D9BA-80DA-11CB-6EFB-D5774E4D0D18}"/>
              </a:ext>
            </a:extLst>
          </p:cNvPr>
          <p:cNvPicPr>
            <a:picLocks noChangeAspect="1"/>
          </p:cNvPicPr>
          <p:nvPr/>
        </p:nvPicPr>
        <p:blipFill>
          <a:blip r:embed="rId8"/>
          <a:stretch>
            <a:fillRect/>
          </a:stretch>
        </p:blipFill>
        <p:spPr>
          <a:xfrm>
            <a:off x="167550" y="2140688"/>
            <a:ext cx="8808899" cy="812686"/>
          </a:xfrm>
          <a:prstGeom prst="rect">
            <a:avLst/>
          </a:prstGeom>
        </p:spPr>
      </p:pic>
      <p:sp>
        <p:nvSpPr>
          <p:cNvPr id="16" name="Content Placeholder 2">
            <a:extLst>
              <a:ext uri="{FF2B5EF4-FFF2-40B4-BE49-F238E27FC236}">
                <a16:creationId xmlns:a16="http://schemas.microsoft.com/office/drawing/2014/main" id="{D609A076-4B90-655D-6393-B452F08E97A7}"/>
              </a:ext>
            </a:extLst>
          </p:cNvPr>
          <p:cNvSpPr txBox="1">
            <a:spLocks/>
          </p:cNvSpPr>
          <p:nvPr/>
        </p:nvSpPr>
        <p:spPr bwMode="auto">
          <a:xfrm>
            <a:off x="209110" y="3189676"/>
            <a:ext cx="8767339" cy="1208703"/>
          </a:xfrm>
          <a:prstGeom prst="rect">
            <a:avLst/>
          </a:prstGeom>
          <a:solidFill>
            <a:schemeClr val="bg1">
              <a:lumMod val="95000"/>
            </a:schemeClr>
          </a:solidFill>
          <a:ln w="9525">
            <a:solidFill>
              <a:srgbClr val="0070C0"/>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spcAft>
                <a:spcPts val="0"/>
              </a:spcAft>
              <a:buNone/>
            </a:pPr>
            <a:r>
              <a:rPr lang="en-US" altLang="en-US" sz="1000" b="1">
                <a:latin typeface="Arial"/>
                <a:cs typeface="Arial"/>
              </a:rPr>
              <a:t>Data Integrity / Staffing:</a:t>
            </a:r>
            <a:br>
              <a:rPr lang="en-US" altLang="en-US" sz="1000">
                <a:latin typeface="Arial" panose="020B0604020202020204" pitchFamily="34" charset="0"/>
              </a:rPr>
            </a:br>
            <a:r>
              <a:rPr lang="en-US" altLang="en-US" sz="1000">
                <a:latin typeface="Arial"/>
                <a:cs typeface="Arial"/>
              </a:rPr>
              <a:t>• Salesforce data and referral accounts will be reallocated to the new CL’s and DBD to ensure accurate reporting and territory alignment.</a:t>
            </a:r>
            <a:br>
              <a:rPr lang="en-US" altLang="en-US" sz="1000">
                <a:latin typeface="Arial" panose="020B0604020202020204" pitchFamily="34" charset="0"/>
              </a:rPr>
            </a:br>
            <a:r>
              <a:rPr lang="en-US" altLang="en-US" sz="1000">
                <a:latin typeface="Arial"/>
                <a:cs typeface="Arial"/>
              </a:rPr>
              <a:t>• Second CL position has been filled.</a:t>
            </a:r>
          </a:p>
          <a:p>
            <a:pPr marL="0" indent="0">
              <a:spcBef>
                <a:spcPts val="0"/>
              </a:spcBef>
              <a:spcAft>
                <a:spcPts val="0"/>
              </a:spcAft>
              <a:buNone/>
            </a:pPr>
            <a:r>
              <a:rPr lang="en-US" sz="1000" b="1">
                <a:solidFill>
                  <a:prstClr val="black"/>
                </a:solidFill>
                <a:latin typeface="Arial"/>
                <a:cs typeface="Arial"/>
              </a:rPr>
              <a:t>Other Ongoing Initiatives</a:t>
            </a:r>
          </a:p>
          <a:p>
            <a:pPr marL="0" indent="0">
              <a:spcBef>
                <a:spcPts val="0"/>
              </a:spcBef>
              <a:spcAft>
                <a:spcPts val="0"/>
              </a:spcAft>
              <a:buNone/>
            </a:pPr>
            <a:r>
              <a:rPr lang="en-US" sz="1000">
                <a:solidFill>
                  <a:prstClr val="black"/>
                </a:solidFill>
                <a:latin typeface="Arial"/>
                <a:cs typeface="Arial"/>
              </a:rPr>
              <a:t>Attempting to schedule a meeting to finalize contract for state hospital stepdown program.  </a:t>
            </a:r>
          </a:p>
          <a:p>
            <a:pPr marL="0" indent="0">
              <a:spcBef>
                <a:spcPts val="0"/>
              </a:spcBef>
              <a:spcAft>
                <a:spcPts val="0"/>
              </a:spcAft>
              <a:buNone/>
            </a:pPr>
            <a:r>
              <a:rPr lang="en-US" sz="1000">
                <a:solidFill>
                  <a:prstClr val="black"/>
                </a:solidFill>
                <a:latin typeface="Arial"/>
                <a:cs typeface="Arial"/>
              </a:rPr>
              <a:t>4th floor construction to begin in late June.</a:t>
            </a:r>
            <a:endParaRPr lang="en-US" sz="1000">
              <a:solidFill>
                <a:prstClr val="black"/>
              </a:solidFill>
              <a:cs typeface="Arial"/>
            </a:endParaRPr>
          </a:p>
        </p:txBody>
      </p:sp>
      <p:graphicFrame>
        <p:nvGraphicFramePr>
          <p:cNvPr id="3" name="Table 2">
            <a:extLst>
              <a:ext uri="{FF2B5EF4-FFF2-40B4-BE49-F238E27FC236}">
                <a16:creationId xmlns:a16="http://schemas.microsoft.com/office/drawing/2014/main" id="{439FC8C5-493F-AB75-DA8B-144CE1B68965}"/>
              </a:ext>
            </a:extLst>
          </p:cNvPr>
          <p:cNvGraphicFramePr>
            <a:graphicFrameLocks noGrp="1"/>
          </p:cNvGraphicFramePr>
          <p:nvPr/>
        </p:nvGraphicFramePr>
        <p:xfrm>
          <a:off x="198474" y="876214"/>
          <a:ext cx="8739035" cy="1062306"/>
        </p:xfrm>
        <a:graphic>
          <a:graphicData uri="http://schemas.openxmlformats.org/drawingml/2006/table">
            <a:tbl>
              <a:tblPr>
                <a:tableStyleId>{5C22544A-7EE6-4342-B048-85BDC9FD1C3A}</a:tableStyleId>
              </a:tblPr>
              <a:tblGrid>
                <a:gridCol w="2585787">
                  <a:extLst>
                    <a:ext uri="{9D8B030D-6E8A-4147-A177-3AD203B41FA5}">
                      <a16:colId xmlns:a16="http://schemas.microsoft.com/office/drawing/2014/main" val="189185299"/>
                    </a:ext>
                  </a:extLst>
                </a:gridCol>
                <a:gridCol w="462760">
                  <a:extLst>
                    <a:ext uri="{9D8B030D-6E8A-4147-A177-3AD203B41FA5}">
                      <a16:colId xmlns:a16="http://schemas.microsoft.com/office/drawing/2014/main" val="831154985"/>
                    </a:ext>
                  </a:extLst>
                </a:gridCol>
                <a:gridCol w="408529">
                  <a:extLst>
                    <a:ext uri="{9D8B030D-6E8A-4147-A177-3AD203B41FA5}">
                      <a16:colId xmlns:a16="http://schemas.microsoft.com/office/drawing/2014/main" val="2237622220"/>
                    </a:ext>
                  </a:extLst>
                </a:gridCol>
                <a:gridCol w="408529">
                  <a:extLst>
                    <a:ext uri="{9D8B030D-6E8A-4147-A177-3AD203B41FA5}">
                      <a16:colId xmlns:a16="http://schemas.microsoft.com/office/drawing/2014/main" val="3191237700"/>
                    </a:ext>
                  </a:extLst>
                </a:gridCol>
                <a:gridCol w="408529">
                  <a:extLst>
                    <a:ext uri="{9D8B030D-6E8A-4147-A177-3AD203B41FA5}">
                      <a16:colId xmlns:a16="http://schemas.microsoft.com/office/drawing/2014/main" val="2757239563"/>
                    </a:ext>
                  </a:extLst>
                </a:gridCol>
                <a:gridCol w="332608">
                  <a:extLst>
                    <a:ext uri="{9D8B030D-6E8A-4147-A177-3AD203B41FA5}">
                      <a16:colId xmlns:a16="http://schemas.microsoft.com/office/drawing/2014/main" val="1184213709"/>
                    </a:ext>
                  </a:extLst>
                </a:gridCol>
                <a:gridCol w="401299">
                  <a:extLst>
                    <a:ext uri="{9D8B030D-6E8A-4147-A177-3AD203B41FA5}">
                      <a16:colId xmlns:a16="http://schemas.microsoft.com/office/drawing/2014/main" val="855880127"/>
                    </a:ext>
                  </a:extLst>
                </a:gridCol>
                <a:gridCol w="408529">
                  <a:extLst>
                    <a:ext uri="{9D8B030D-6E8A-4147-A177-3AD203B41FA5}">
                      <a16:colId xmlns:a16="http://schemas.microsoft.com/office/drawing/2014/main" val="1608949158"/>
                    </a:ext>
                  </a:extLst>
                </a:gridCol>
                <a:gridCol w="408529">
                  <a:extLst>
                    <a:ext uri="{9D8B030D-6E8A-4147-A177-3AD203B41FA5}">
                      <a16:colId xmlns:a16="http://schemas.microsoft.com/office/drawing/2014/main" val="3116596752"/>
                    </a:ext>
                  </a:extLst>
                </a:gridCol>
                <a:gridCol w="408529">
                  <a:extLst>
                    <a:ext uri="{9D8B030D-6E8A-4147-A177-3AD203B41FA5}">
                      <a16:colId xmlns:a16="http://schemas.microsoft.com/office/drawing/2014/main" val="688150571"/>
                    </a:ext>
                  </a:extLst>
                </a:gridCol>
                <a:gridCol w="408529">
                  <a:extLst>
                    <a:ext uri="{9D8B030D-6E8A-4147-A177-3AD203B41FA5}">
                      <a16:colId xmlns:a16="http://schemas.microsoft.com/office/drawing/2014/main" val="3263851764"/>
                    </a:ext>
                  </a:extLst>
                </a:gridCol>
                <a:gridCol w="408529">
                  <a:extLst>
                    <a:ext uri="{9D8B030D-6E8A-4147-A177-3AD203B41FA5}">
                      <a16:colId xmlns:a16="http://schemas.microsoft.com/office/drawing/2014/main" val="1921732664"/>
                    </a:ext>
                  </a:extLst>
                </a:gridCol>
                <a:gridCol w="408529">
                  <a:extLst>
                    <a:ext uri="{9D8B030D-6E8A-4147-A177-3AD203B41FA5}">
                      <a16:colId xmlns:a16="http://schemas.microsoft.com/office/drawing/2014/main" val="4161348022"/>
                    </a:ext>
                  </a:extLst>
                </a:gridCol>
                <a:gridCol w="795368">
                  <a:extLst>
                    <a:ext uri="{9D8B030D-6E8A-4147-A177-3AD203B41FA5}">
                      <a16:colId xmlns:a16="http://schemas.microsoft.com/office/drawing/2014/main" val="3769010444"/>
                    </a:ext>
                  </a:extLst>
                </a:gridCol>
                <a:gridCol w="484452">
                  <a:extLst>
                    <a:ext uri="{9D8B030D-6E8A-4147-A177-3AD203B41FA5}">
                      <a16:colId xmlns:a16="http://schemas.microsoft.com/office/drawing/2014/main" val="2983647804"/>
                    </a:ext>
                  </a:extLst>
                </a:gridCol>
              </a:tblGrid>
              <a:tr h="495386">
                <a:tc>
                  <a:txBody>
                    <a:bodyPr/>
                    <a:lstStyle/>
                    <a:p>
                      <a:pPr algn="l" fontAlgn="ctr">
                        <a:buNone/>
                      </a:pPr>
                      <a:r>
                        <a:rPr lang="en-US" sz="700" u="none" strike="noStrike">
                          <a:effectLst/>
                        </a:rPr>
                        <a:t>Field Marketing Productivity - </a:t>
                      </a:r>
                      <a:br>
                        <a:rPr lang="en-US" sz="700" u="none" strike="noStrike">
                          <a:effectLst/>
                        </a:rPr>
                      </a:br>
                      <a:r>
                        <a:rPr lang="en-US" sz="700" u="none" strike="noStrike">
                          <a:effectLst/>
                        </a:rPr>
                        <a:t>Current Month</a:t>
                      </a:r>
                      <a:endParaRPr lang="en-US" sz="700" b="1" i="0" u="none" strike="noStrike">
                        <a:solidFill>
                          <a:srgbClr val="000000"/>
                        </a:solidFill>
                        <a:effectLst/>
                        <a:latin typeface="Arial" panose="020B0604020202020204" pitchFamily="34" charset="0"/>
                      </a:endParaRPr>
                    </a:p>
                  </a:txBody>
                  <a:tcPr marL="2554" marR="2554" marT="2554" marB="0" anchor="ctr"/>
                </a:tc>
                <a:tc gridSpan="2">
                  <a:txBody>
                    <a:bodyPr/>
                    <a:lstStyle/>
                    <a:p>
                      <a:pPr algn="ctr" fontAlgn="ctr">
                        <a:buNone/>
                      </a:pPr>
                      <a:r>
                        <a:rPr lang="en-US" sz="700" u="none" strike="noStrike">
                          <a:effectLst/>
                        </a:rPr>
                        <a:t>Face-to-Face (Scheduled)</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Face-to-Face (Unscheduled)</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Phone Contacts</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Group Contacts</a:t>
                      </a:r>
                      <a:br>
                        <a:rPr lang="en-US" sz="700" u="none" strike="noStrike">
                          <a:effectLst/>
                        </a:rPr>
                      </a:br>
                      <a:r>
                        <a:rPr lang="en-US" sz="700" u="none" strike="noStrike">
                          <a:effectLst/>
                        </a:rPr>
                        <a:t>(3 or More)</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Misc. Contacts (Emails, Texts, Tours, Zoom Calls)</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Total Contacts</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a:txBody>
                    <a:bodyPr/>
                    <a:lstStyle/>
                    <a:p>
                      <a:pPr algn="ctr" fontAlgn="ctr">
                        <a:buNone/>
                      </a:pPr>
                      <a:r>
                        <a:rPr lang="en-US" sz="700" u="none" strike="noStrike">
                          <a:effectLst/>
                        </a:rPr>
                        <a:t>Total Inquiries</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Current Month Admits</a:t>
                      </a:r>
                      <a:endParaRPr lang="en-US" sz="700" b="0" i="0" u="none" strike="noStrike">
                        <a:solidFill>
                          <a:srgbClr val="000000"/>
                        </a:solidFill>
                        <a:effectLst/>
                        <a:latin typeface="Arial" panose="020B0604020202020204" pitchFamily="34" charset="0"/>
                      </a:endParaRPr>
                    </a:p>
                  </a:txBody>
                  <a:tcPr marL="2554" marR="2554" marT="2554" marB="0" anchor="ctr"/>
                </a:tc>
                <a:extLst>
                  <a:ext uri="{0D108BD9-81ED-4DB2-BD59-A6C34878D82A}">
                    <a16:rowId xmlns:a16="http://schemas.microsoft.com/office/drawing/2014/main" val="3701573383"/>
                  </a:ext>
                </a:extLst>
              </a:tr>
              <a:tr h="141730">
                <a:tc>
                  <a:txBody>
                    <a:bodyPr/>
                    <a:lstStyle/>
                    <a:p>
                      <a:pPr algn="l" fontAlgn="ctr">
                        <a:buNone/>
                      </a:pPr>
                      <a:r>
                        <a:rPr lang="en-US" sz="700" u="none" strike="noStrike">
                          <a:effectLst/>
                        </a:rPr>
                        <a:t>Brenda Wylie</a:t>
                      </a:r>
                      <a:endParaRPr lang="en-US" sz="700" b="0" i="0" u="none" strike="noStrike">
                        <a:solidFill>
                          <a:srgbClr val="000000"/>
                        </a:solidFill>
                        <a:effectLst/>
                        <a:latin typeface="Arial" panose="020B0604020202020204" pitchFamily="34" charset="0"/>
                      </a:endParaRPr>
                    </a:p>
                  </a:txBody>
                  <a:tcPr marL="2554" marR="2554" marT="2554" marB="0" anchor="ctr"/>
                </a:tc>
                <a:tc gridSpan="2">
                  <a:txBody>
                    <a:bodyPr/>
                    <a:lstStyle/>
                    <a:p>
                      <a:pPr algn="ctr" fontAlgn="ctr">
                        <a:buNone/>
                      </a:pPr>
                      <a:r>
                        <a:rPr lang="en-US" sz="700" u="none" strike="noStrike">
                          <a:effectLst/>
                        </a:rPr>
                        <a:t>0</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a:txBody>
                    <a:bodyPr/>
                    <a:lstStyle/>
                    <a:p>
                      <a:pPr algn="r" fontAlgn="ctr">
                        <a:buNone/>
                      </a:pPr>
                      <a:r>
                        <a:rPr lang="en-US" sz="600" b="0" i="0" u="none" strike="noStrike">
                          <a:solidFill>
                            <a:srgbClr val="000000"/>
                          </a:solidFill>
                          <a:effectLst/>
                          <a:latin typeface="Arial" panose="020B0604020202020204" pitchFamily="34" charset="0"/>
                        </a:rPr>
                        <a:t>119</a:t>
                      </a:r>
                    </a:p>
                  </a:txBody>
                  <a:tcPr marL="2554" marR="2554" marT="2554" marB="0" anchor="ctr"/>
                </a:tc>
                <a:tc>
                  <a:txBody>
                    <a:bodyPr/>
                    <a:lstStyle/>
                    <a:p>
                      <a:pPr algn="l" fontAlgn="t">
                        <a:buNone/>
                      </a:pPr>
                      <a:endParaRPr lang="en-US" sz="600" b="0" i="0" u="none" strike="noStrike">
                        <a:solidFill>
                          <a:srgbClr val="000000"/>
                        </a:solidFill>
                        <a:effectLst/>
                        <a:latin typeface="Arial" panose="020B0604020202020204" pitchFamily="34" charset="0"/>
                      </a:endParaRPr>
                    </a:p>
                  </a:txBody>
                  <a:tcPr marL="2554" marR="2554" marT="2554" marB="0"/>
                </a:tc>
                <a:tc gridSpan="2">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 4</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134</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257</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a:txBody>
                    <a:bodyPr/>
                    <a:lstStyle/>
                    <a:p>
                      <a:pPr algn="r" fontAlgn="ctr">
                        <a:buNone/>
                      </a:pPr>
                      <a:r>
                        <a:rPr lang="en-US" sz="700" b="0" i="0" u="none" strike="noStrike">
                          <a:solidFill>
                            <a:srgbClr val="000000"/>
                          </a:solidFill>
                          <a:effectLst/>
                          <a:latin typeface="Arial" panose="020B0604020202020204" pitchFamily="34" charset="0"/>
                        </a:rPr>
                        <a:t>117</a:t>
                      </a:r>
                    </a:p>
                  </a:txBody>
                  <a:tcPr marL="2554" marR="2554" marT="2554" marB="0" anchor="ctr"/>
                </a:tc>
                <a:tc>
                  <a:txBody>
                    <a:bodyPr/>
                    <a:lstStyle/>
                    <a:p>
                      <a:pPr algn="r" fontAlgn="ctr">
                        <a:buNone/>
                      </a:pPr>
                      <a:r>
                        <a:rPr lang="en-US" sz="700" u="none" strike="noStrike">
                          <a:effectLst/>
                        </a:rPr>
                        <a:t>117</a:t>
                      </a:r>
                      <a:endParaRPr lang="en-US" sz="700" b="0" i="0" u="none" strike="noStrike">
                        <a:solidFill>
                          <a:srgbClr val="000000"/>
                        </a:solidFill>
                        <a:effectLst/>
                        <a:latin typeface="Arial" panose="020B0604020202020204" pitchFamily="34" charset="0"/>
                      </a:endParaRPr>
                    </a:p>
                  </a:txBody>
                  <a:tcPr marL="2554" marR="2554" marT="2554" marB="0" anchor="ctr"/>
                </a:tc>
                <a:extLst>
                  <a:ext uri="{0D108BD9-81ED-4DB2-BD59-A6C34878D82A}">
                    <a16:rowId xmlns:a16="http://schemas.microsoft.com/office/drawing/2014/main" val="1635771439"/>
                  </a:ext>
                </a:extLst>
              </a:tr>
              <a:tr h="141730">
                <a:tc>
                  <a:txBody>
                    <a:bodyPr/>
                    <a:lstStyle/>
                    <a:p>
                      <a:pPr algn="l" fontAlgn="ctr">
                        <a:buNone/>
                      </a:pPr>
                      <a:r>
                        <a:rPr lang="en-US" sz="700" u="none" strike="noStrike">
                          <a:effectLst/>
                        </a:rPr>
                        <a:t>Arron Walker</a:t>
                      </a:r>
                      <a:endParaRPr lang="en-US" sz="700" b="0" i="0" u="none" strike="noStrike">
                        <a:solidFill>
                          <a:srgbClr val="000000"/>
                        </a:solidFill>
                        <a:effectLst/>
                        <a:latin typeface="Arial" panose="020B0604020202020204" pitchFamily="34" charset="0"/>
                      </a:endParaRPr>
                    </a:p>
                  </a:txBody>
                  <a:tcPr marL="2554" marR="2554" marT="2554" marB="0" anchor="ctr"/>
                </a:tc>
                <a:tc gridSpan="2">
                  <a:txBody>
                    <a:bodyPr/>
                    <a:lstStyle/>
                    <a:p>
                      <a:pPr algn="ctr" fontAlgn="ctr">
                        <a:buNone/>
                      </a:pPr>
                      <a:r>
                        <a:rPr lang="en-US" sz="700" u="none" strike="noStrike">
                          <a:effectLst/>
                        </a:rPr>
                        <a:t>11</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b="0" i="0" u="none" strike="noStrike">
                          <a:solidFill>
                            <a:srgbClr val="000000"/>
                          </a:solidFill>
                          <a:effectLst/>
                          <a:latin typeface="Arial" panose="020B0604020202020204" pitchFamily="34" charset="0"/>
                        </a:rPr>
                        <a:t>126</a:t>
                      </a: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7</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3 </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25</a:t>
                      </a:r>
                      <a:endParaRPr lang="en-US" sz="700" b="0"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172</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a:txBody>
                    <a:bodyPr/>
                    <a:lstStyle/>
                    <a:p>
                      <a:pPr algn="r" fontAlgn="ctr">
                        <a:buNone/>
                      </a:pPr>
                      <a:r>
                        <a:rPr lang="en-US" sz="700" u="none" strike="noStrike">
                          <a:effectLst/>
                        </a:rPr>
                        <a:t>2</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r" fontAlgn="ctr">
                        <a:buNone/>
                      </a:pPr>
                      <a:r>
                        <a:rPr lang="en-US" sz="700" u="none" strike="noStrike">
                          <a:effectLst/>
                        </a:rPr>
                        <a:t>2</a:t>
                      </a:r>
                      <a:endParaRPr lang="en-US" sz="700" b="0" i="0" u="none" strike="noStrike">
                        <a:solidFill>
                          <a:srgbClr val="000000"/>
                        </a:solidFill>
                        <a:effectLst/>
                        <a:latin typeface="Arial" panose="020B0604020202020204" pitchFamily="34" charset="0"/>
                      </a:endParaRPr>
                    </a:p>
                  </a:txBody>
                  <a:tcPr marL="2554" marR="2554" marT="2554" marB="0" anchor="ctr"/>
                </a:tc>
                <a:extLst>
                  <a:ext uri="{0D108BD9-81ED-4DB2-BD59-A6C34878D82A}">
                    <a16:rowId xmlns:a16="http://schemas.microsoft.com/office/drawing/2014/main" val="2298759903"/>
                  </a:ext>
                </a:extLst>
              </a:tr>
              <a:tr h="141730">
                <a:tc>
                  <a:txBody>
                    <a:bodyPr/>
                    <a:lstStyle/>
                    <a:p>
                      <a:pPr algn="l" fontAlgn="ctr">
                        <a:buNone/>
                      </a:pPr>
                      <a:r>
                        <a:rPr lang="en-US" sz="700" u="none" strike="noStrike">
                          <a:effectLst/>
                        </a:rPr>
                        <a:t>Other</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1" i="0" u="none" strike="noStrike">
                        <a:solidFill>
                          <a:srgbClr val="000000"/>
                        </a:solidFill>
                        <a:effectLst/>
                        <a:latin typeface="Arial" panose="020B0604020202020204" pitchFamily="34" charset="0"/>
                      </a:endParaRPr>
                    </a:p>
                  </a:txBody>
                  <a:tcPr marL="2554" marR="2554" marT="2554" marB="0" anchor="ctr"/>
                </a:tc>
                <a:tc>
                  <a:txBody>
                    <a:bodyPr/>
                    <a:lstStyle/>
                    <a:p>
                      <a:pPr algn="ctr" fontAlgn="ctr">
                        <a:buNone/>
                      </a:pPr>
                      <a:r>
                        <a:rPr lang="en-US" sz="700" u="none" strike="noStrike">
                          <a:effectLst/>
                        </a:rPr>
                        <a:t> </a:t>
                      </a:r>
                      <a:endParaRPr lang="en-US" sz="700" b="1" i="0" u="none" strike="noStrike">
                        <a:solidFill>
                          <a:srgbClr val="000000"/>
                        </a:solidFill>
                        <a:effectLst/>
                        <a:latin typeface="Arial" panose="020B0604020202020204" pitchFamily="34" charset="0"/>
                      </a:endParaRPr>
                    </a:p>
                  </a:txBody>
                  <a:tcPr marL="2554" marR="2554" marT="2554" marB="0" anchor="ctr"/>
                </a:tc>
                <a:tc>
                  <a:txBody>
                    <a:bodyPr/>
                    <a:lstStyle/>
                    <a:p>
                      <a:pPr algn="r" fontAlgn="ctr">
                        <a:buNone/>
                      </a:pPr>
                      <a:r>
                        <a:rPr lang="en-US" sz="700" u="none" strike="noStrike">
                          <a:effectLst/>
                        </a:rPr>
                        <a:t>330</a:t>
                      </a:r>
                      <a:endParaRPr lang="en-US" sz="700" b="0" i="0" u="none" strike="noStrike">
                        <a:solidFill>
                          <a:srgbClr val="000000"/>
                        </a:solidFill>
                        <a:effectLst/>
                        <a:latin typeface="Arial" panose="020B0604020202020204" pitchFamily="34" charset="0"/>
                      </a:endParaRPr>
                    </a:p>
                  </a:txBody>
                  <a:tcPr marL="2554" marR="2554" marT="2554" marB="0" anchor="ctr"/>
                </a:tc>
                <a:tc>
                  <a:txBody>
                    <a:bodyPr/>
                    <a:lstStyle/>
                    <a:p>
                      <a:pPr algn="r" fontAlgn="ctr">
                        <a:buNone/>
                      </a:pPr>
                      <a:r>
                        <a:rPr lang="en-US" sz="700" u="none" strike="noStrike">
                          <a:effectLst/>
                        </a:rPr>
                        <a:t>53</a:t>
                      </a:r>
                      <a:endParaRPr lang="en-US" sz="700" b="0" i="0" u="none" strike="noStrike">
                        <a:solidFill>
                          <a:srgbClr val="000000"/>
                        </a:solidFill>
                        <a:effectLst/>
                        <a:latin typeface="Arial" panose="020B0604020202020204" pitchFamily="34" charset="0"/>
                      </a:endParaRPr>
                    </a:p>
                  </a:txBody>
                  <a:tcPr marL="2554" marR="2554" marT="2554" marB="0" anchor="ctr"/>
                </a:tc>
                <a:extLst>
                  <a:ext uri="{0D108BD9-81ED-4DB2-BD59-A6C34878D82A}">
                    <a16:rowId xmlns:a16="http://schemas.microsoft.com/office/drawing/2014/main" val="3758653663"/>
                  </a:ext>
                </a:extLst>
              </a:tr>
              <a:tr h="141730">
                <a:tc>
                  <a:txBody>
                    <a:bodyPr/>
                    <a:lstStyle/>
                    <a:p>
                      <a:pPr algn="l" fontAlgn="ctr">
                        <a:buNone/>
                      </a:pPr>
                      <a:r>
                        <a:rPr lang="en-US" sz="700" u="none" strike="noStrike">
                          <a:effectLst/>
                        </a:rPr>
                        <a:t>Total</a:t>
                      </a:r>
                      <a:endParaRPr lang="en-US" sz="700" b="0" i="0" u="none" strike="noStrike">
                        <a:solidFill>
                          <a:srgbClr val="000000"/>
                        </a:solidFill>
                        <a:effectLst/>
                        <a:latin typeface="Arial" panose="020B0604020202020204" pitchFamily="34" charset="0"/>
                      </a:endParaRPr>
                    </a:p>
                  </a:txBody>
                  <a:tcPr marL="2554" marR="2554" marT="2554" marB="0" anchor="ctr"/>
                </a:tc>
                <a:tc gridSpan="2">
                  <a:txBody>
                    <a:bodyPr/>
                    <a:lstStyle/>
                    <a:p>
                      <a:pPr algn="ctr" fontAlgn="ctr">
                        <a:buNone/>
                      </a:pPr>
                      <a:r>
                        <a:rPr lang="en-US" sz="700" u="none" strike="noStrike">
                          <a:effectLst/>
                        </a:rPr>
                        <a:t>11</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245</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7</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7</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159</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gridSpan="2">
                  <a:txBody>
                    <a:bodyPr/>
                    <a:lstStyle/>
                    <a:p>
                      <a:pPr algn="ctr" fontAlgn="ctr">
                        <a:buNone/>
                      </a:pPr>
                      <a:r>
                        <a:rPr lang="en-US" sz="700" u="none" strike="noStrike">
                          <a:effectLst/>
                        </a:rPr>
                        <a:t>429</a:t>
                      </a:r>
                      <a:endParaRPr lang="en-US" sz="700" b="1" i="0" u="none" strike="noStrike">
                        <a:solidFill>
                          <a:srgbClr val="000000"/>
                        </a:solidFill>
                        <a:effectLst/>
                        <a:latin typeface="Arial" panose="020B0604020202020204" pitchFamily="34" charset="0"/>
                      </a:endParaRPr>
                    </a:p>
                  </a:txBody>
                  <a:tcPr marL="2554" marR="2554" marT="2554" marB="0" anchor="ctr"/>
                </a:tc>
                <a:tc hMerge="1">
                  <a:txBody>
                    <a:bodyPr/>
                    <a:lstStyle/>
                    <a:p>
                      <a:endParaRPr lang="en-US"/>
                    </a:p>
                  </a:txBody>
                  <a:tcPr/>
                </a:tc>
                <a:tc>
                  <a:txBody>
                    <a:bodyPr/>
                    <a:lstStyle/>
                    <a:p>
                      <a:pPr algn="r" fontAlgn="ctr">
                        <a:buNone/>
                      </a:pPr>
                      <a:r>
                        <a:rPr lang="en-US" sz="700" u="none" strike="noStrike">
                          <a:effectLst/>
                        </a:rPr>
                        <a:t>449</a:t>
                      </a:r>
                      <a:endParaRPr lang="en-US" sz="700" b="1" i="0" u="none" strike="noStrike">
                        <a:solidFill>
                          <a:srgbClr val="000000"/>
                        </a:solidFill>
                        <a:effectLst/>
                        <a:latin typeface="Arial" panose="020B0604020202020204" pitchFamily="34" charset="0"/>
                      </a:endParaRPr>
                    </a:p>
                  </a:txBody>
                  <a:tcPr marL="2554" marR="2554" marT="2554" marB="0" anchor="ctr"/>
                </a:tc>
                <a:tc>
                  <a:txBody>
                    <a:bodyPr/>
                    <a:lstStyle/>
                    <a:p>
                      <a:pPr algn="r" fontAlgn="ctr">
                        <a:buNone/>
                      </a:pPr>
                      <a:r>
                        <a:rPr lang="en-US" sz="700" u="none" strike="noStrike">
                          <a:effectLst/>
                        </a:rPr>
                        <a:t>172</a:t>
                      </a:r>
                      <a:endParaRPr lang="en-US" sz="700" b="1" i="0" u="none" strike="noStrike">
                        <a:solidFill>
                          <a:srgbClr val="000000"/>
                        </a:solidFill>
                        <a:effectLst/>
                        <a:latin typeface="Arial" panose="020B0604020202020204" pitchFamily="34" charset="0"/>
                      </a:endParaRPr>
                    </a:p>
                  </a:txBody>
                  <a:tcPr marL="2554" marR="2554" marT="2554" marB="0" anchor="ctr"/>
                </a:tc>
                <a:extLst>
                  <a:ext uri="{0D108BD9-81ED-4DB2-BD59-A6C34878D82A}">
                    <a16:rowId xmlns:a16="http://schemas.microsoft.com/office/drawing/2014/main" val="2368294374"/>
                  </a:ext>
                </a:extLst>
              </a:tr>
            </a:tbl>
          </a:graphicData>
        </a:graphic>
      </p:graphicFrame>
      <p:graphicFrame>
        <p:nvGraphicFramePr>
          <p:cNvPr id="4" name="Table 3">
            <a:extLst>
              <a:ext uri="{FF2B5EF4-FFF2-40B4-BE49-F238E27FC236}">
                <a16:creationId xmlns:a16="http://schemas.microsoft.com/office/drawing/2014/main" id="{0A699AC7-F7B0-D2F2-3523-DAF60E2270BC}"/>
              </a:ext>
            </a:extLst>
          </p:cNvPr>
          <p:cNvGraphicFramePr>
            <a:graphicFrameLocks noGrp="1"/>
          </p:cNvGraphicFramePr>
          <p:nvPr/>
        </p:nvGraphicFramePr>
        <p:xfrm>
          <a:off x="167551" y="2235221"/>
          <a:ext cx="8808900" cy="812686"/>
        </p:xfrm>
        <a:graphic>
          <a:graphicData uri="http://schemas.openxmlformats.org/drawingml/2006/table">
            <a:tbl>
              <a:tblPr>
                <a:tableStyleId>{5C22544A-7EE6-4342-B048-85BDC9FD1C3A}</a:tableStyleId>
              </a:tblPr>
              <a:tblGrid>
                <a:gridCol w="2105309">
                  <a:extLst>
                    <a:ext uri="{9D8B030D-6E8A-4147-A177-3AD203B41FA5}">
                      <a16:colId xmlns:a16="http://schemas.microsoft.com/office/drawing/2014/main" val="2673219309"/>
                    </a:ext>
                  </a:extLst>
                </a:gridCol>
                <a:gridCol w="572549">
                  <a:extLst>
                    <a:ext uri="{9D8B030D-6E8A-4147-A177-3AD203B41FA5}">
                      <a16:colId xmlns:a16="http://schemas.microsoft.com/office/drawing/2014/main" val="664952426"/>
                    </a:ext>
                  </a:extLst>
                </a:gridCol>
                <a:gridCol w="506944">
                  <a:extLst>
                    <a:ext uri="{9D8B030D-6E8A-4147-A177-3AD203B41FA5}">
                      <a16:colId xmlns:a16="http://schemas.microsoft.com/office/drawing/2014/main" val="2405282069"/>
                    </a:ext>
                  </a:extLst>
                </a:gridCol>
                <a:gridCol w="506944">
                  <a:extLst>
                    <a:ext uri="{9D8B030D-6E8A-4147-A177-3AD203B41FA5}">
                      <a16:colId xmlns:a16="http://schemas.microsoft.com/office/drawing/2014/main" val="3922326280"/>
                    </a:ext>
                  </a:extLst>
                </a:gridCol>
                <a:gridCol w="506944">
                  <a:extLst>
                    <a:ext uri="{9D8B030D-6E8A-4147-A177-3AD203B41FA5}">
                      <a16:colId xmlns:a16="http://schemas.microsoft.com/office/drawing/2014/main" val="1167701489"/>
                    </a:ext>
                  </a:extLst>
                </a:gridCol>
                <a:gridCol w="411520">
                  <a:extLst>
                    <a:ext uri="{9D8B030D-6E8A-4147-A177-3AD203B41FA5}">
                      <a16:colId xmlns:a16="http://schemas.microsoft.com/office/drawing/2014/main" val="2300731712"/>
                    </a:ext>
                  </a:extLst>
                </a:gridCol>
                <a:gridCol w="500981">
                  <a:extLst>
                    <a:ext uri="{9D8B030D-6E8A-4147-A177-3AD203B41FA5}">
                      <a16:colId xmlns:a16="http://schemas.microsoft.com/office/drawing/2014/main" val="2040885607"/>
                    </a:ext>
                  </a:extLst>
                </a:gridCol>
                <a:gridCol w="506944">
                  <a:extLst>
                    <a:ext uri="{9D8B030D-6E8A-4147-A177-3AD203B41FA5}">
                      <a16:colId xmlns:a16="http://schemas.microsoft.com/office/drawing/2014/main" val="2932009487"/>
                    </a:ext>
                  </a:extLst>
                </a:gridCol>
                <a:gridCol w="506944">
                  <a:extLst>
                    <a:ext uri="{9D8B030D-6E8A-4147-A177-3AD203B41FA5}">
                      <a16:colId xmlns:a16="http://schemas.microsoft.com/office/drawing/2014/main" val="1834821556"/>
                    </a:ext>
                  </a:extLst>
                </a:gridCol>
                <a:gridCol w="506944">
                  <a:extLst>
                    <a:ext uri="{9D8B030D-6E8A-4147-A177-3AD203B41FA5}">
                      <a16:colId xmlns:a16="http://schemas.microsoft.com/office/drawing/2014/main" val="1647293627"/>
                    </a:ext>
                  </a:extLst>
                </a:gridCol>
                <a:gridCol w="506944">
                  <a:extLst>
                    <a:ext uri="{9D8B030D-6E8A-4147-A177-3AD203B41FA5}">
                      <a16:colId xmlns:a16="http://schemas.microsoft.com/office/drawing/2014/main" val="1103340527"/>
                    </a:ext>
                  </a:extLst>
                </a:gridCol>
                <a:gridCol w="506944">
                  <a:extLst>
                    <a:ext uri="{9D8B030D-6E8A-4147-A177-3AD203B41FA5}">
                      <a16:colId xmlns:a16="http://schemas.microsoft.com/office/drawing/2014/main" val="2551727069"/>
                    </a:ext>
                  </a:extLst>
                </a:gridCol>
                <a:gridCol w="506944">
                  <a:extLst>
                    <a:ext uri="{9D8B030D-6E8A-4147-A177-3AD203B41FA5}">
                      <a16:colId xmlns:a16="http://schemas.microsoft.com/office/drawing/2014/main" val="4093587956"/>
                    </a:ext>
                  </a:extLst>
                </a:gridCol>
                <a:gridCol w="656045">
                  <a:extLst>
                    <a:ext uri="{9D8B030D-6E8A-4147-A177-3AD203B41FA5}">
                      <a16:colId xmlns:a16="http://schemas.microsoft.com/office/drawing/2014/main" val="2572040544"/>
                    </a:ext>
                  </a:extLst>
                </a:gridCol>
              </a:tblGrid>
              <a:tr h="116098">
                <a:tc>
                  <a:txBody>
                    <a:bodyPr/>
                    <a:lstStyle/>
                    <a:p>
                      <a:pPr algn="l" fontAlgn="ctr">
                        <a:buNone/>
                      </a:pPr>
                      <a:r>
                        <a:rPr lang="en-US" sz="700" u="none" strike="noStrike">
                          <a:effectLst/>
                        </a:rPr>
                        <a:t>Field Marketing Admit Productivity</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2441593836"/>
                  </a:ext>
                </a:extLst>
              </a:tr>
              <a:tr h="116098">
                <a:tc>
                  <a:txBody>
                    <a:bodyPr/>
                    <a:lstStyle/>
                    <a:p>
                      <a:pPr algn="l" fontAlgn="ctr">
                        <a:buNone/>
                      </a:pPr>
                      <a:r>
                        <a:rPr lang="en-US" sz="700" u="none" strike="noStrike">
                          <a:effectLst/>
                        </a:rPr>
                        <a:t>YTD Trend</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26-Jan</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Feb</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Mar</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Apr</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May</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June</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July</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Aug</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Sept</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Oct</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Nov</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Dec</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YTD</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925462326"/>
                  </a:ext>
                </a:extLst>
              </a:tr>
              <a:tr h="116098">
                <a:tc>
                  <a:txBody>
                    <a:bodyPr/>
                    <a:lstStyle/>
                    <a:p>
                      <a:pPr algn="l"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2284212131"/>
                  </a:ext>
                </a:extLst>
              </a:tr>
              <a:tr h="116098">
                <a:tc>
                  <a:txBody>
                    <a:bodyPr/>
                    <a:lstStyle/>
                    <a:p>
                      <a:pPr algn="l" fontAlgn="ctr">
                        <a:buNone/>
                      </a:pPr>
                      <a:r>
                        <a:rPr lang="en-US" sz="700" u="none" strike="noStrike">
                          <a:effectLst/>
                        </a:rPr>
                        <a:t>Brenda Wylie</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22.0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50.0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117.00</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76.0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2686302890"/>
                  </a:ext>
                </a:extLst>
              </a:tr>
              <a:tr h="116098">
                <a:tc>
                  <a:txBody>
                    <a:bodyPr/>
                    <a:lstStyle/>
                    <a:p>
                      <a:pPr algn="l" fontAlgn="ctr">
                        <a:buNone/>
                      </a:pPr>
                      <a:r>
                        <a:rPr lang="en-US" sz="700" u="none" strike="noStrike">
                          <a:effectLst/>
                        </a:rPr>
                        <a:t>Arron Walker</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2.0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2.0</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3.0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3131248157"/>
                  </a:ext>
                </a:extLst>
              </a:tr>
              <a:tr h="116098">
                <a:tc>
                  <a:txBody>
                    <a:bodyPr/>
                    <a:lstStyle/>
                    <a:p>
                      <a:pPr algn="l" fontAlgn="ctr">
                        <a:buNone/>
                      </a:pPr>
                      <a:r>
                        <a:rPr lang="en-US" sz="700" u="none" strike="noStrike">
                          <a:effectLst/>
                        </a:rPr>
                        <a:t>OTHER</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171.0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146.0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131.0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53.00 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448.0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2015685826"/>
                  </a:ext>
                </a:extLst>
              </a:tr>
              <a:tr h="116098">
                <a:tc>
                  <a:txBody>
                    <a:bodyPr/>
                    <a:lstStyle/>
                    <a:p>
                      <a:pPr algn="l" fontAlgn="ctr">
                        <a:buNone/>
                      </a:pPr>
                      <a:r>
                        <a:rPr lang="en-US" sz="700" u="none" strike="noStrike">
                          <a:effectLst/>
                        </a:rPr>
                        <a:t>Total</a:t>
                      </a:r>
                      <a:endParaRPr lang="en-US" sz="700" b="0"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175.0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170.0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182.0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172.0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0.0 </a:t>
                      </a:r>
                      <a:endParaRPr lang="en-US" sz="700" b="1" i="0" u="none" strike="noStrike">
                        <a:solidFill>
                          <a:srgbClr val="000000"/>
                        </a:solidFill>
                        <a:effectLst/>
                        <a:latin typeface="Arial" panose="020B0604020202020204" pitchFamily="34" charset="0"/>
                      </a:endParaRPr>
                    </a:p>
                  </a:txBody>
                  <a:tcPr marL="2670" marR="2670" marT="2670" marB="0" anchor="ctr"/>
                </a:tc>
                <a:tc>
                  <a:txBody>
                    <a:bodyPr/>
                    <a:lstStyle/>
                    <a:p>
                      <a:pPr algn="ctr" fontAlgn="ctr">
                        <a:buNone/>
                      </a:pPr>
                      <a:r>
                        <a:rPr lang="en-US" sz="700" u="none" strike="noStrike">
                          <a:effectLst/>
                        </a:rPr>
                        <a:t>527.0 </a:t>
                      </a:r>
                      <a:endParaRPr lang="en-US" sz="700" b="1" i="0" u="none" strike="noStrike">
                        <a:solidFill>
                          <a:srgbClr val="000000"/>
                        </a:solidFill>
                        <a:effectLst/>
                        <a:latin typeface="Arial" panose="020B0604020202020204" pitchFamily="34" charset="0"/>
                      </a:endParaRPr>
                    </a:p>
                  </a:txBody>
                  <a:tcPr marL="2670" marR="2670" marT="2670" marB="0" anchor="ctr"/>
                </a:tc>
                <a:extLst>
                  <a:ext uri="{0D108BD9-81ED-4DB2-BD59-A6C34878D82A}">
                    <a16:rowId xmlns:a16="http://schemas.microsoft.com/office/drawing/2014/main" val="1047628362"/>
                  </a:ext>
                </a:extLst>
              </a:tr>
            </a:tbl>
          </a:graphicData>
        </a:graphic>
      </p:graphicFrame>
    </p:spTree>
    <p:extLst>
      <p:ext uri="{BB962C8B-B14F-4D97-AF65-F5344CB8AC3E}">
        <p14:creationId xmlns:p14="http://schemas.microsoft.com/office/powerpoint/2010/main" val="2952898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4F311-C29E-7CB4-1F5B-C251B3AE9F57}"/>
            </a:ext>
          </a:extLst>
        </p:cNvPr>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58262D01-5356-AA54-24D8-0141423EE2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53" imgH="353" progId="TCLayout.ActiveDocument.1">
                  <p:embed/>
                </p:oleObj>
              </mc:Choice>
              <mc:Fallback>
                <p:oleObj name="think-cell Slide" r:id="rId5" imgW="353" imgH="353" progId="TCLayout.ActiveDocument.1">
                  <p:embed/>
                  <p:pic>
                    <p:nvPicPr>
                      <p:cNvPr id="8" name="Object 7" hidden="1">
                        <a:extLst>
                          <a:ext uri="{FF2B5EF4-FFF2-40B4-BE49-F238E27FC236}">
                            <a16:creationId xmlns:a16="http://schemas.microsoft.com/office/drawing/2014/main" id="{58262D01-5356-AA54-24D8-0141423EE2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5657E631-370C-68BA-6D96-FD845A6B1ED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400" b="0" i="0" u="none" strike="noStrike" kern="1200" cap="none" spc="0" normalizeH="0" baseline="0" noProof="0">
              <a:ln>
                <a:noFill/>
              </a:ln>
              <a:solidFill>
                <a:prstClr val="white"/>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658DBFA9-9FF5-B118-32AB-9458ACA25F1E}"/>
              </a:ext>
            </a:extLst>
          </p:cNvPr>
          <p:cNvSpPr>
            <a:spLocks noGrp="1"/>
          </p:cNvSpPr>
          <p:nvPr>
            <p:ph type="title"/>
          </p:nvPr>
        </p:nvSpPr>
        <p:spPr>
          <a:xfrm>
            <a:off x="241378" y="81376"/>
            <a:ext cx="8588297" cy="537751"/>
          </a:xfrm>
        </p:spPr>
        <p:txBody>
          <a:bodyPr vert="horz" lIns="91440" tIns="45720" rIns="91440" bIns="45720" rtlCol="0" anchor="ctr">
            <a:normAutofit/>
          </a:bodyPr>
          <a:lstStyle/>
          <a:p>
            <a:pPr algn="ctr"/>
            <a:r>
              <a:rPr lang="en-US"/>
              <a:t>April 2026 – Business Development – Highland Hospital</a:t>
            </a:r>
          </a:p>
        </p:txBody>
      </p:sp>
      <p:sp>
        <p:nvSpPr>
          <p:cNvPr id="9" name="Slide Number Placeholder 1">
            <a:extLst>
              <a:ext uri="{FF2B5EF4-FFF2-40B4-BE49-F238E27FC236}">
                <a16:creationId xmlns:a16="http://schemas.microsoft.com/office/drawing/2014/main" id="{8606AE15-4ED8-DDAE-0C7F-B92A1AAF2E92}"/>
              </a:ext>
            </a:extLst>
          </p:cNvPr>
          <p:cNvSpPr>
            <a:spLocks noGrp="1"/>
          </p:cNvSpPr>
          <p:nvPr>
            <p:ph type="sldNum" sz="quarter" idx="12"/>
          </p:nvPr>
        </p:nvSpPr>
        <p:spPr>
          <a:xfrm>
            <a:off x="8849106" y="6650966"/>
            <a:ext cx="294894" cy="168934"/>
          </a:xfrm>
        </p:spPr>
        <p:txBody>
          <a:bodyPr/>
          <a:lstStyle/>
          <a:p>
            <a:fld id="{5E60824B-427F-0546-8E63-CCBFBFE2F314}" type="slidenum">
              <a:rPr lang="en-US" smtClean="0"/>
              <a:pPr/>
              <a:t>17</a:t>
            </a:fld>
            <a:endParaRPr lang="en-US"/>
          </a:p>
        </p:txBody>
      </p:sp>
      <p:pic>
        <p:nvPicPr>
          <p:cNvPr id="5" name="Picture 4">
            <a:extLst>
              <a:ext uri="{FF2B5EF4-FFF2-40B4-BE49-F238E27FC236}">
                <a16:creationId xmlns:a16="http://schemas.microsoft.com/office/drawing/2014/main" id="{ADD86D54-C487-367A-E817-C3B5EF79DC99}"/>
              </a:ext>
            </a:extLst>
          </p:cNvPr>
          <p:cNvPicPr>
            <a:picLocks noChangeAspect="1"/>
          </p:cNvPicPr>
          <p:nvPr/>
        </p:nvPicPr>
        <p:blipFill>
          <a:blip r:embed="rId7"/>
          <a:stretch>
            <a:fillRect/>
          </a:stretch>
        </p:blipFill>
        <p:spPr>
          <a:xfrm>
            <a:off x="197520" y="979163"/>
            <a:ext cx="8748960" cy="4653022"/>
          </a:xfrm>
          <a:prstGeom prst="rect">
            <a:avLst/>
          </a:prstGeom>
        </p:spPr>
      </p:pic>
      <p:graphicFrame>
        <p:nvGraphicFramePr>
          <p:cNvPr id="3" name="Table 2">
            <a:extLst>
              <a:ext uri="{FF2B5EF4-FFF2-40B4-BE49-F238E27FC236}">
                <a16:creationId xmlns:a16="http://schemas.microsoft.com/office/drawing/2014/main" id="{73A1FF3F-8EAE-C134-1229-8F93125839BB}"/>
              </a:ext>
            </a:extLst>
          </p:cNvPr>
          <p:cNvGraphicFramePr>
            <a:graphicFrameLocks noGrp="1"/>
          </p:cNvGraphicFramePr>
          <p:nvPr/>
        </p:nvGraphicFramePr>
        <p:xfrm>
          <a:off x="197520" y="979164"/>
          <a:ext cx="8748959" cy="4899690"/>
        </p:xfrm>
        <a:graphic>
          <a:graphicData uri="http://schemas.openxmlformats.org/drawingml/2006/table">
            <a:tbl>
              <a:tblPr>
                <a:tableStyleId>{5C22544A-7EE6-4342-B048-85BDC9FD1C3A}</a:tableStyleId>
              </a:tblPr>
              <a:tblGrid>
                <a:gridCol w="2090986">
                  <a:extLst>
                    <a:ext uri="{9D8B030D-6E8A-4147-A177-3AD203B41FA5}">
                      <a16:colId xmlns:a16="http://schemas.microsoft.com/office/drawing/2014/main" val="685204186"/>
                    </a:ext>
                  </a:extLst>
                </a:gridCol>
                <a:gridCol w="568654">
                  <a:extLst>
                    <a:ext uri="{9D8B030D-6E8A-4147-A177-3AD203B41FA5}">
                      <a16:colId xmlns:a16="http://schemas.microsoft.com/office/drawing/2014/main" val="3554309989"/>
                    </a:ext>
                  </a:extLst>
                </a:gridCol>
                <a:gridCol w="503494">
                  <a:extLst>
                    <a:ext uri="{9D8B030D-6E8A-4147-A177-3AD203B41FA5}">
                      <a16:colId xmlns:a16="http://schemas.microsoft.com/office/drawing/2014/main" val="195477437"/>
                    </a:ext>
                  </a:extLst>
                </a:gridCol>
                <a:gridCol w="503494">
                  <a:extLst>
                    <a:ext uri="{9D8B030D-6E8A-4147-A177-3AD203B41FA5}">
                      <a16:colId xmlns:a16="http://schemas.microsoft.com/office/drawing/2014/main" val="3844661913"/>
                    </a:ext>
                  </a:extLst>
                </a:gridCol>
                <a:gridCol w="503494">
                  <a:extLst>
                    <a:ext uri="{9D8B030D-6E8A-4147-A177-3AD203B41FA5}">
                      <a16:colId xmlns:a16="http://schemas.microsoft.com/office/drawing/2014/main" val="704048207"/>
                    </a:ext>
                  </a:extLst>
                </a:gridCol>
                <a:gridCol w="408720">
                  <a:extLst>
                    <a:ext uri="{9D8B030D-6E8A-4147-A177-3AD203B41FA5}">
                      <a16:colId xmlns:a16="http://schemas.microsoft.com/office/drawing/2014/main" val="1294643628"/>
                    </a:ext>
                  </a:extLst>
                </a:gridCol>
                <a:gridCol w="497571">
                  <a:extLst>
                    <a:ext uri="{9D8B030D-6E8A-4147-A177-3AD203B41FA5}">
                      <a16:colId xmlns:a16="http://schemas.microsoft.com/office/drawing/2014/main" val="2109618297"/>
                    </a:ext>
                  </a:extLst>
                </a:gridCol>
                <a:gridCol w="503494">
                  <a:extLst>
                    <a:ext uri="{9D8B030D-6E8A-4147-A177-3AD203B41FA5}">
                      <a16:colId xmlns:a16="http://schemas.microsoft.com/office/drawing/2014/main" val="2368145224"/>
                    </a:ext>
                  </a:extLst>
                </a:gridCol>
                <a:gridCol w="503494">
                  <a:extLst>
                    <a:ext uri="{9D8B030D-6E8A-4147-A177-3AD203B41FA5}">
                      <a16:colId xmlns:a16="http://schemas.microsoft.com/office/drawing/2014/main" val="4081111695"/>
                    </a:ext>
                  </a:extLst>
                </a:gridCol>
                <a:gridCol w="503494">
                  <a:extLst>
                    <a:ext uri="{9D8B030D-6E8A-4147-A177-3AD203B41FA5}">
                      <a16:colId xmlns:a16="http://schemas.microsoft.com/office/drawing/2014/main" val="400656289"/>
                    </a:ext>
                  </a:extLst>
                </a:gridCol>
                <a:gridCol w="503494">
                  <a:extLst>
                    <a:ext uri="{9D8B030D-6E8A-4147-A177-3AD203B41FA5}">
                      <a16:colId xmlns:a16="http://schemas.microsoft.com/office/drawing/2014/main" val="669037278"/>
                    </a:ext>
                  </a:extLst>
                </a:gridCol>
                <a:gridCol w="503494">
                  <a:extLst>
                    <a:ext uri="{9D8B030D-6E8A-4147-A177-3AD203B41FA5}">
                      <a16:colId xmlns:a16="http://schemas.microsoft.com/office/drawing/2014/main" val="1075212740"/>
                    </a:ext>
                  </a:extLst>
                </a:gridCol>
                <a:gridCol w="503494">
                  <a:extLst>
                    <a:ext uri="{9D8B030D-6E8A-4147-A177-3AD203B41FA5}">
                      <a16:colId xmlns:a16="http://schemas.microsoft.com/office/drawing/2014/main" val="1245404876"/>
                    </a:ext>
                  </a:extLst>
                </a:gridCol>
                <a:gridCol w="651582">
                  <a:extLst>
                    <a:ext uri="{9D8B030D-6E8A-4147-A177-3AD203B41FA5}">
                      <a16:colId xmlns:a16="http://schemas.microsoft.com/office/drawing/2014/main" val="2090865579"/>
                    </a:ext>
                  </a:extLst>
                </a:gridCol>
              </a:tblGrid>
              <a:tr h="125738">
                <a:tc>
                  <a:txBody>
                    <a:bodyPr/>
                    <a:lstStyle/>
                    <a:p>
                      <a:pPr algn="l" fontAlgn="ctr">
                        <a:buNone/>
                      </a:pPr>
                      <a:r>
                        <a:rPr lang="en-US" sz="700" u="none" strike="noStrike">
                          <a:effectLst/>
                        </a:rPr>
                        <a:t>Admits by Referral Category</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Jan</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Feb</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Mar</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Apr</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May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June</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July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Aug</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Sep</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Oct</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Nov</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Dec</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YTD</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201252388"/>
                  </a:ext>
                </a:extLst>
              </a:tr>
              <a:tr h="125738">
                <a:tc>
                  <a:txBody>
                    <a:bodyPr/>
                    <a:lstStyle/>
                    <a:p>
                      <a:pPr algn="l" fontAlgn="ctr">
                        <a:buNone/>
                      </a:pPr>
                      <a:r>
                        <a:rPr lang="en-US" sz="700" u="none" strike="noStrike">
                          <a:effectLst/>
                        </a:rPr>
                        <a:t>Other</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706723082"/>
                  </a:ext>
                </a:extLst>
              </a:tr>
              <a:tr h="125738">
                <a:tc>
                  <a:txBody>
                    <a:bodyPr/>
                    <a:lstStyle/>
                    <a:p>
                      <a:pPr algn="l" fontAlgn="ctr">
                        <a:buNone/>
                      </a:pPr>
                      <a:r>
                        <a:rPr lang="en-US" sz="700" u="none" strike="noStrike">
                          <a:effectLst/>
                        </a:rPr>
                        <a:t>AA/NA Community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871231262"/>
                  </a:ext>
                </a:extLst>
              </a:tr>
              <a:tr h="125738">
                <a:tc>
                  <a:txBody>
                    <a:bodyPr/>
                    <a:lstStyle/>
                    <a:p>
                      <a:pPr algn="l" fontAlgn="ctr">
                        <a:buNone/>
                      </a:pPr>
                      <a:r>
                        <a:rPr lang="en-US" sz="700" u="none" strike="noStrike">
                          <a:effectLst/>
                        </a:rPr>
                        <a:t>Acute/Psych Stabilization</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42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40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44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42</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126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803292327"/>
                  </a:ext>
                </a:extLst>
              </a:tr>
              <a:tr h="125738">
                <a:tc>
                  <a:txBody>
                    <a:bodyPr/>
                    <a:lstStyle/>
                    <a:p>
                      <a:pPr algn="l" fontAlgn="ctr">
                        <a:buNone/>
                      </a:pPr>
                      <a:r>
                        <a:rPr lang="en-US" sz="700" u="none" strike="noStrike">
                          <a:effectLst/>
                        </a:rPr>
                        <a:t>Alumni/Former Patient</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478667384"/>
                  </a:ext>
                </a:extLst>
              </a:tr>
              <a:tr h="125738">
                <a:tc>
                  <a:txBody>
                    <a:bodyPr/>
                    <a:lstStyle/>
                    <a:p>
                      <a:pPr algn="l" fontAlgn="ctr">
                        <a:buNone/>
                      </a:pPr>
                      <a:r>
                        <a:rPr lang="en-US" sz="700" u="none" strike="noStrike">
                          <a:effectLst/>
                        </a:rPr>
                        <a:t>Church/Clergy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90786045"/>
                  </a:ext>
                </a:extLst>
              </a:tr>
              <a:tr h="125738">
                <a:tc>
                  <a:txBody>
                    <a:bodyPr/>
                    <a:lstStyle/>
                    <a:p>
                      <a:pPr algn="l" fontAlgn="ctr">
                        <a:buNone/>
                      </a:pPr>
                      <a:r>
                        <a:rPr lang="en-US" sz="700" u="none" strike="noStrike">
                          <a:effectLst/>
                        </a:rPr>
                        <a:t>Colleges/Universities</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888138123"/>
                  </a:ext>
                </a:extLst>
              </a:tr>
              <a:tr h="131587">
                <a:tc>
                  <a:txBody>
                    <a:bodyPr/>
                    <a:lstStyle/>
                    <a:p>
                      <a:pPr algn="l" fontAlgn="ctr">
                        <a:buNone/>
                      </a:pPr>
                      <a:r>
                        <a:rPr lang="en-US" sz="700" u="none" strike="noStrike">
                          <a:effectLst/>
                        </a:rPr>
                        <a:t>Community Org/Agency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9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7</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24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385138892"/>
                  </a:ext>
                </a:extLst>
              </a:tr>
              <a:tr h="125738">
                <a:tc>
                  <a:txBody>
                    <a:bodyPr/>
                    <a:lstStyle/>
                    <a:p>
                      <a:pPr algn="l" fontAlgn="ctr">
                        <a:buNone/>
                      </a:pPr>
                      <a:r>
                        <a:rPr lang="en-US" sz="700" u="none" strike="noStrike">
                          <a:effectLst/>
                        </a:rPr>
                        <a:t>Detox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370117517"/>
                  </a:ext>
                </a:extLst>
              </a:tr>
              <a:tr h="125738">
                <a:tc>
                  <a:txBody>
                    <a:bodyPr/>
                    <a:lstStyle/>
                    <a:p>
                      <a:pPr algn="l" fontAlgn="ctr">
                        <a:buNone/>
                      </a:pPr>
                      <a:r>
                        <a:rPr lang="en-US" sz="700" u="none" strike="noStrike">
                          <a:effectLst/>
                        </a:rPr>
                        <a:t>Educational Consultants</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768581150"/>
                  </a:ext>
                </a:extLst>
              </a:tr>
              <a:tr h="125738">
                <a:tc>
                  <a:txBody>
                    <a:bodyPr/>
                    <a:lstStyle/>
                    <a:p>
                      <a:pPr algn="l" fontAlgn="ctr">
                        <a:buNone/>
                      </a:pPr>
                      <a:r>
                        <a:rPr lang="en-US" sz="700" u="none" strike="noStrike">
                          <a:effectLst/>
                        </a:rPr>
                        <a:t>Employer/Labor Union</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047750205"/>
                  </a:ext>
                </a:extLst>
              </a:tr>
              <a:tr h="125738">
                <a:tc>
                  <a:txBody>
                    <a:bodyPr/>
                    <a:lstStyle/>
                    <a:p>
                      <a:pPr algn="l" fontAlgn="ctr">
                        <a:buNone/>
                      </a:pPr>
                      <a:r>
                        <a:rPr lang="en-US" sz="700" u="none" strike="noStrike">
                          <a:effectLst/>
                        </a:rPr>
                        <a:t>Hospital/ER Medical</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101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110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106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105</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317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615556840"/>
                  </a:ext>
                </a:extLst>
              </a:tr>
              <a:tr h="125738">
                <a:tc>
                  <a:txBody>
                    <a:bodyPr/>
                    <a:lstStyle/>
                    <a:p>
                      <a:pPr algn="l" fontAlgn="ctr">
                        <a:buNone/>
                      </a:pPr>
                      <a:r>
                        <a:rPr lang="en-US" sz="700" u="none" strike="noStrike">
                          <a:effectLst/>
                        </a:rPr>
                        <a:t>Ins/Managed Care</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360576458"/>
                  </a:ext>
                </a:extLst>
              </a:tr>
              <a:tr h="125738">
                <a:tc>
                  <a:txBody>
                    <a:bodyPr/>
                    <a:lstStyle/>
                    <a:p>
                      <a:pPr algn="l" fontAlgn="ctr">
                        <a:buNone/>
                      </a:pPr>
                      <a:r>
                        <a:rPr lang="en-US" sz="700" u="none" strike="noStrike">
                          <a:effectLst/>
                        </a:rPr>
                        <a:t>Interventionist</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b">
                        <a:buNone/>
                      </a:pPr>
                      <a:r>
                        <a:rPr lang="en-US" sz="700" u="none" strike="noStrike">
                          <a:effectLst/>
                        </a:rPr>
                        <a:t>1</a:t>
                      </a:r>
                      <a:endParaRPr lang="en-US" sz="700" b="0" i="0" u="none" strike="noStrike">
                        <a:solidFill>
                          <a:srgbClr val="000000"/>
                        </a:solidFill>
                        <a:effectLst/>
                        <a:latin typeface="Arial" panose="020B0604020202020204" pitchFamily="34" charset="0"/>
                      </a:endParaRPr>
                    </a:p>
                  </a:txBody>
                  <a:tcPr marL="2597" marR="2597" marT="2597" marB="0" anchor="b"/>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516486533"/>
                  </a:ext>
                </a:extLst>
              </a:tr>
              <a:tr h="125738">
                <a:tc>
                  <a:txBody>
                    <a:bodyPr/>
                    <a:lstStyle/>
                    <a:p>
                      <a:pPr algn="l" fontAlgn="ctr">
                        <a:buNone/>
                      </a:pPr>
                      <a:r>
                        <a:rPr lang="en-US" sz="700" u="none" strike="noStrike">
                          <a:effectLst/>
                        </a:rPr>
                        <a:t>Legal/Criminal Justice</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1</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897885297"/>
                  </a:ext>
                </a:extLst>
              </a:tr>
              <a:tr h="125738">
                <a:tc>
                  <a:txBody>
                    <a:bodyPr/>
                    <a:lstStyle/>
                    <a:p>
                      <a:pPr algn="l" fontAlgn="ctr">
                        <a:buNone/>
                      </a:pPr>
                      <a:r>
                        <a:rPr lang="en-US" sz="700" u="none" strike="noStrike">
                          <a:effectLst/>
                        </a:rPr>
                        <a:t>MH Professional</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2</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99383318"/>
                  </a:ext>
                </a:extLst>
              </a:tr>
              <a:tr h="125738">
                <a:tc>
                  <a:txBody>
                    <a:bodyPr/>
                    <a:lstStyle/>
                    <a:p>
                      <a:pPr algn="l" fontAlgn="ctr">
                        <a:buNone/>
                      </a:pPr>
                      <a:r>
                        <a:rPr lang="en-US" sz="700" u="none" strike="noStrike">
                          <a:effectLst/>
                        </a:rPr>
                        <a:t>Military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653604554"/>
                  </a:ext>
                </a:extLst>
              </a:tr>
              <a:tr h="125738">
                <a:tc>
                  <a:txBody>
                    <a:bodyPr/>
                    <a:lstStyle/>
                    <a:p>
                      <a:pPr algn="l" fontAlgn="ctr">
                        <a:buNone/>
                      </a:pPr>
                      <a:r>
                        <a:rPr lang="en-US" sz="700" u="none" strike="noStrike">
                          <a:effectLst/>
                        </a:rPr>
                        <a:t>Other RTC Provider</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1</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180437706"/>
                  </a:ext>
                </a:extLst>
              </a:tr>
              <a:tr h="125738">
                <a:tc>
                  <a:txBody>
                    <a:bodyPr/>
                    <a:lstStyle/>
                    <a:p>
                      <a:pPr algn="l" fontAlgn="ctr">
                        <a:buNone/>
                      </a:pPr>
                      <a:r>
                        <a:rPr lang="en-US" sz="700" u="none" strike="noStrike">
                          <a:effectLst/>
                        </a:rPr>
                        <a:t>PHP/IOP Provider</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3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161380224"/>
                  </a:ext>
                </a:extLst>
              </a:tr>
              <a:tr h="125738">
                <a:tc>
                  <a:txBody>
                    <a:bodyPr/>
                    <a:lstStyle/>
                    <a:p>
                      <a:pPr algn="l" fontAlgn="ctr">
                        <a:buNone/>
                      </a:pPr>
                      <a:r>
                        <a:rPr lang="en-US" sz="700" u="none" strike="noStrike">
                          <a:effectLst/>
                        </a:rPr>
                        <a:t>Physician</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3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1</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5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885464333"/>
                  </a:ext>
                </a:extLst>
              </a:tr>
              <a:tr h="125738">
                <a:tc>
                  <a:txBody>
                    <a:bodyPr/>
                    <a:lstStyle/>
                    <a:p>
                      <a:pPr algn="l" fontAlgn="ctr">
                        <a:buNone/>
                      </a:pPr>
                      <a:r>
                        <a:rPr lang="en-US" sz="700" u="none" strike="noStrike">
                          <a:effectLst/>
                        </a:rPr>
                        <a:t>PPC</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672152487"/>
                  </a:ext>
                </a:extLst>
              </a:tr>
              <a:tr h="125738">
                <a:tc>
                  <a:txBody>
                    <a:bodyPr/>
                    <a:lstStyle/>
                    <a:p>
                      <a:pPr algn="l" fontAlgn="ctr">
                        <a:buNone/>
                      </a:pPr>
                      <a:r>
                        <a:rPr lang="en-US" sz="700" u="none" strike="noStrike">
                          <a:effectLst/>
                        </a:rPr>
                        <a:t>Print ad/Billboard</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520393177"/>
                  </a:ext>
                </a:extLst>
              </a:tr>
              <a:tr h="125738">
                <a:tc>
                  <a:txBody>
                    <a:bodyPr/>
                    <a:lstStyle/>
                    <a:p>
                      <a:pPr algn="l" fontAlgn="ctr">
                        <a:buNone/>
                      </a:pPr>
                      <a:r>
                        <a:rPr lang="en-US" sz="700" u="none" strike="noStrike">
                          <a:effectLst/>
                        </a:rPr>
                        <a:t>Professionals Program</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388873334"/>
                  </a:ext>
                </a:extLst>
              </a:tr>
              <a:tr h="125738">
                <a:tc>
                  <a:txBody>
                    <a:bodyPr/>
                    <a:lstStyle/>
                    <a:p>
                      <a:pPr algn="l" fontAlgn="ctr">
                        <a:buNone/>
                      </a:pPr>
                      <a:r>
                        <a:rPr lang="en-US" sz="700" u="none" strike="noStrike">
                          <a:effectLst/>
                        </a:rPr>
                        <a:t>Readmit</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980038191"/>
                  </a:ext>
                </a:extLst>
              </a:tr>
              <a:tr h="125738">
                <a:tc>
                  <a:txBody>
                    <a:bodyPr/>
                    <a:lstStyle/>
                    <a:p>
                      <a:pPr algn="l" fontAlgn="ctr">
                        <a:buNone/>
                      </a:pPr>
                      <a:r>
                        <a:rPr lang="en-US" sz="700" u="none" strike="noStrike">
                          <a:effectLst/>
                        </a:rPr>
                        <a:t>SBHC Employee</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375443889"/>
                  </a:ext>
                </a:extLst>
              </a:tr>
              <a:tr h="125738">
                <a:tc>
                  <a:txBody>
                    <a:bodyPr/>
                    <a:lstStyle/>
                    <a:p>
                      <a:pPr algn="l" fontAlgn="ctr">
                        <a:buNone/>
                      </a:pPr>
                      <a:r>
                        <a:rPr lang="en-US" sz="700" u="none" strike="noStrike">
                          <a:effectLst/>
                        </a:rPr>
                        <a:t>SEO/Web</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75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61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64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73</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200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470679430"/>
                  </a:ext>
                </a:extLst>
              </a:tr>
              <a:tr h="125738">
                <a:tc>
                  <a:txBody>
                    <a:bodyPr/>
                    <a:lstStyle/>
                    <a:p>
                      <a:pPr algn="l" fontAlgn="ctr">
                        <a:buNone/>
                      </a:pPr>
                      <a:r>
                        <a:rPr lang="en-US" sz="700" u="none" strike="noStrike">
                          <a:effectLst/>
                        </a:rPr>
                        <a:t>Transitional/Sober Living</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3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4284582959"/>
                  </a:ext>
                </a:extLst>
              </a:tr>
              <a:tr h="125738">
                <a:tc>
                  <a:txBody>
                    <a:bodyPr/>
                    <a:lstStyle/>
                    <a:p>
                      <a:pPr algn="l" fontAlgn="ctr">
                        <a:buNone/>
                      </a:pPr>
                      <a:r>
                        <a:rPr lang="en-US" sz="700" u="none" strike="noStrike">
                          <a:effectLst/>
                        </a:rPr>
                        <a:t>TV/Radio</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782901356"/>
                  </a:ext>
                </a:extLst>
              </a:tr>
              <a:tr h="125738">
                <a:tc>
                  <a:txBody>
                    <a:bodyPr/>
                    <a:lstStyle/>
                    <a:p>
                      <a:pPr algn="l" fontAlgn="ctr">
                        <a:buNone/>
                      </a:pPr>
                      <a:r>
                        <a:rPr lang="en-US" sz="700" u="none" strike="noStrike">
                          <a:effectLst/>
                        </a:rPr>
                        <a:t>Web Listing</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304253152"/>
                  </a:ext>
                </a:extLst>
              </a:tr>
              <a:tr h="125738">
                <a:tc>
                  <a:txBody>
                    <a:bodyPr/>
                    <a:lstStyle/>
                    <a:p>
                      <a:pPr algn="l" fontAlgn="ctr">
                        <a:buNone/>
                      </a:pPr>
                      <a:r>
                        <a:rPr lang="en-US" sz="700" u="none" strike="noStrike">
                          <a:effectLst/>
                        </a:rPr>
                        <a:t>Trac9</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78797571"/>
                  </a:ext>
                </a:extLst>
              </a:tr>
              <a:tr h="125738">
                <a:tc>
                  <a:txBody>
                    <a:bodyPr/>
                    <a:lstStyle/>
                    <a:p>
                      <a:pPr algn="l" fontAlgn="ctr">
                        <a:buNone/>
                      </a:pPr>
                      <a:r>
                        <a:rPr lang="en-US" sz="700" u="none" strike="noStrike">
                          <a:effectLst/>
                        </a:rPr>
                        <a:t>Mental Health Centers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19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19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10</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49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2983582792"/>
                  </a:ext>
                </a:extLst>
              </a:tr>
              <a:tr h="125738">
                <a:tc>
                  <a:txBody>
                    <a:bodyPr/>
                    <a:lstStyle/>
                    <a:p>
                      <a:pPr algn="l" fontAlgn="ctr">
                        <a:buNone/>
                      </a:pPr>
                      <a:r>
                        <a:rPr lang="en-US" sz="700" u="none" strike="noStrike">
                          <a:effectLst/>
                        </a:rPr>
                        <a:t>State Agency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1</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187836834"/>
                  </a:ext>
                </a:extLst>
              </a:tr>
              <a:tr h="125738">
                <a:tc>
                  <a:txBody>
                    <a:bodyPr/>
                    <a:lstStyle/>
                    <a:p>
                      <a:pPr algn="l" fontAlgn="ctr">
                        <a:buNone/>
                      </a:pPr>
                      <a:r>
                        <a:rPr lang="en-US" sz="700" u="none" strike="noStrike">
                          <a:effectLst/>
                        </a:rPr>
                        <a:t>State Contract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021605193"/>
                  </a:ext>
                </a:extLst>
              </a:tr>
              <a:tr h="125738">
                <a:tc>
                  <a:txBody>
                    <a:bodyPr/>
                    <a:lstStyle/>
                    <a:p>
                      <a:pPr algn="l" fontAlgn="ctr">
                        <a:buNone/>
                      </a:pPr>
                      <a:r>
                        <a:rPr lang="en-US" sz="700" u="none" strike="noStrike">
                          <a:effectLst/>
                        </a:rPr>
                        <a:t>CSB/Mobile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106391760"/>
                  </a:ext>
                </a:extLst>
              </a:tr>
              <a:tr h="125738">
                <a:tc>
                  <a:txBody>
                    <a:bodyPr/>
                    <a:lstStyle/>
                    <a:p>
                      <a:pPr algn="l" fontAlgn="ctr">
                        <a:buNone/>
                      </a:pPr>
                      <a:r>
                        <a:rPr lang="en-US" sz="700" u="none" strike="noStrike">
                          <a:effectLst/>
                        </a:rPr>
                        <a:t>Schools K-12 -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4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27965542"/>
                  </a:ext>
                </a:extLst>
              </a:tr>
              <a:tr h="241535">
                <a:tc>
                  <a:txBody>
                    <a:bodyPr/>
                    <a:lstStyle/>
                    <a:p>
                      <a:pPr algn="l" fontAlgn="ctr">
                        <a:buNone/>
                      </a:pPr>
                      <a:r>
                        <a:rPr lang="en-US" sz="700" u="none" strike="noStrike">
                          <a:effectLst/>
                        </a:rPr>
                        <a:t>Senior Living/Skilled Nursing Facility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316777126"/>
                  </a:ext>
                </a:extLst>
              </a:tr>
              <a:tr h="125738">
                <a:tc>
                  <a:txBody>
                    <a:bodyPr/>
                    <a:lstStyle/>
                    <a:p>
                      <a:pPr algn="l" fontAlgn="ctr">
                        <a:buNone/>
                      </a:pPr>
                      <a:r>
                        <a:rPr lang="en-US" sz="700" u="none" strike="noStrike">
                          <a:effectLst/>
                        </a:rPr>
                        <a:t>Adolescent RTC - Acute Only</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1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3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2</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 </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6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1842503427"/>
                  </a:ext>
                </a:extLst>
              </a:tr>
              <a:tr h="125738">
                <a:tc>
                  <a:txBody>
                    <a:bodyPr/>
                    <a:lstStyle/>
                    <a:p>
                      <a:pPr algn="l" fontAlgn="ctr">
                        <a:buNone/>
                      </a:pPr>
                      <a:r>
                        <a:rPr lang="en-US" sz="700" u="none" strike="noStrike">
                          <a:effectLst/>
                        </a:rPr>
                        <a:t>Total</a:t>
                      </a:r>
                      <a:endParaRPr lang="en-US" sz="700" b="0"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250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243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259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245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0 </a:t>
                      </a:r>
                      <a:endParaRPr lang="en-US" sz="700" b="1" i="0" u="none" strike="noStrike">
                        <a:solidFill>
                          <a:srgbClr val="000000"/>
                        </a:solidFill>
                        <a:effectLst/>
                        <a:latin typeface="Arial" panose="020B0604020202020204" pitchFamily="34" charset="0"/>
                      </a:endParaRPr>
                    </a:p>
                  </a:txBody>
                  <a:tcPr marL="2597" marR="2597" marT="2597" marB="0" anchor="ctr"/>
                </a:tc>
                <a:tc>
                  <a:txBody>
                    <a:bodyPr/>
                    <a:lstStyle/>
                    <a:p>
                      <a:pPr algn="ctr" fontAlgn="ctr">
                        <a:buNone/>
                      </a:pPr>
                      <a:r>
                        <a:rPr lang="en-US" sz="700" u="none" strike="noStrike">
                          <a:effectLst/>
                        </a:rPr>
                        <a:t>753 </a:t>
                      </a:r>
                      <a:endParaRPr lang="en-US" sz="700" b="1" i="0" u="none" strike="noStrike">
                        <a:solidFill>
                          <a:srgbClr val="000000"/>
                        </a:solidFill>
                        <a:effectLst/>
                        <a:latin typeface="Arial" panose="020B0604020202020204" pitchFamily="34" charset="0"/>
                      </a:endParaRPr>
                    </a:p>
                  </a:txBody>
                  <a:tcPr marL="2597" marR="2597" marT="2597" marB="0" anchor="ctr"/>
                </a:tc>
                <a:extLst>
                  <a:ext uri="{0D108BD9-81ED-4DB2-BD59-A6C34878D82A}">
                    <a16:rowId xmlns:a16="http://schemas.microsoft.com/office/drawing/2014/main" val="3056308129"/>
                  </a:ext>
                </a:extLst>
              </a:tr>
            </a:tbl>
          </a:graphicData>
        </a:graphic>
      </p:graphicFrame>
    </p:spTree>
    <p:extLst>
      <p:ext uri="{BB962C8B-B14F-4D97-AF65-F5344CB8AC3E}">
        <p14:creationId xmlns:p14="http://schemas.microsoft.com/office/powerpoint/2010/main" val="1430599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BD3D-3895-EBFB-AA6C-D2E5D56A881B}"/>
              </a:ext>
            </a:extLst>
          </p:cNvPr>
          <p:cNvSpPr>
            <a:spLocks noGrp="1"/>
          </p:cNvSpPr>
          <p:nvPr>
            <p:ph type="title"/>
          </p:nvPr>
        </p:nvSpPr>
        <p:spPr/>
        <p:txBody>
          <a:bodyPr>
            <a:normAutofit fontScale="90000"/>
          </a:bodyPr>
          <a:lstStyle/>
          <a:p>
            <a:pPr algn="ctr"/>
            <a:br>
              <a:rPr lang="en-US" sz="2200">
                <a:ea typeface="Calibri Light"/>
                <a:cs typeface="Calibri Light"/>
              </a:rPr>
            </a:br>
            <a:r>
              <a:rPr lang="en-US" sz="2200">
                <a:ea typeface="Calibri Light"/>
                <a:cs typeface="Calibri Light"/>
              </a:rPr>
              <a:t>April 2026 – Business Development – Highland Hospital</a:t>
            </a:r>
            <a:endParaRPr lang="en-US" sz="2200">
              <a:solidFill>
                <a:srgbClr val="000000"/>
              </a:solidFill>
              <a:ea typeface="Calibri Light"/>
              <a:cs typeface="Calibri Light"/>
            </a:endParaRPr>
          </a:p>
          <a:p>
            <a:endParaRPr lang="en-US">
              <a:ea typeface="Calibri Light"/>
              <a:cs typeface="Calibri Light"/>
            </a:endParaRPr>
          </a:p>
        </p:txBody>
      </p:sp>
      <p:sp>
        <p:nvSpPr>
          <p:cNvPr id="3" name="Text Placeholder 2">
            <a:extLst>
              <a:ext uri="{FF2B5EF4-FFF2-40B4-BE49-F238E27FC236}">
                <a16:creationId xmlns:a16="http://schemas.microsoft.com/office/drawing/2014/main" id="{93AF2763-D759-8FD7-D381-8A6B1B2EF553}"/>
              </a:ext>
            </a:extLst>
          </p:cNvPr>
          <p:cNvSpPr>
            <a:spLocks noGrp="1"/>
          </p:cNvSpPr>
          <p:nvPr>
            <p:ph type="body" sz="quarter" idx="13"/>
          </p:nvPr>
        </p:nvSpPr>
        <p:spPr>
          <a:xfrm>
            <a:off x="250902" y="609602"/>
            <a:ext cx="8503920" cy="6248398"/>
          </a:xfrm>
        </p:spPr>
        <p:txBody>
          <a:bodyPr vert="horz" lIns="91440" tIns="45720" rIns="91440" bIns="45720" rtlCol="0" anchor="t">
            <a:noAutofit/>
          </a:bodyPr>
          <a:lstStyle/>
          <a:p>
            <a:pPr>
              <a:lnSpc>
                <a:spcPct val="100000"/>
              </a:lnSpc>
              <a:spcBef>
                <a:spcPts val="0"/>
              </a:spcBef>
            </a:pPr>
            <a:r>
              <a:rPr lang="en-US" sz="800" b="1">
                <a:solidFill>
                  <a:srgbClr val="000000"/>
                </a:solidFill>
                <a:latin typeface="Arial" panose="020B0604020202020204" pitchFamily="34" charset="0"/>
                <a:ea typeface="Times New Roman" panose="02020603050405020304" pitchFamily="18" charset="0"/>
                <a:cs typeface="Arial" panose="020B0604020202020204" pitchFamily="34" charset="0"/>
              </a:rPr>
              <a:t>Service Line</a:t>
            </a:r>
          </a:p>
          <a:p>
            <a:pPr marL="171450" indent="-171450">
              <a:buFont typeface="Arial" panose="020B0604020202020204" pitchFamily="34" charset="0"/>
              <a:buChar char="•"/>
            </a:pPr>
            <a:r>
              <a:rPr lang="en-US" sz="800"/>
              <a:t>Detox inquiries increased decreased from prior month and prior year,  -33 PM;  -11 PY</a:t>
            </a:r>
          </a:p>
          <a:p>
            <a:pPr marL="171450" indent="-171450">
              <a:buFont typeface="Arial" panose="020B0604020202020204" pitchFamily="34" charset="0"/>
              <a:buChar char="•"/>
            </a:pPr>
            <a:r>
              <a:rPr lang="en-US" sz="800"/>
              <a:t>Adol inquiries increased over prior month and prior year, +9 PM; +58 PY</a:t>
            </a:r>
            <a:endParaRPr lang="en-US"/>
          </a:p>
          <a:p>
            <a:pPr marL="171450" indent="-171450">
              <a:buFont typeface="Arial" panose="020B0604020202020204" pitchFamily="34" charset="0"/>
              <a:buChar char="•"/>
            </a:pPr>
            <a:r>
              <a:rPr lang="en-US" sz="800"/>
              <a:t>Adult inquiries decreased from prior month and increased over prior year,  -12PM; +46 PY</a:t>
            </a:r>
          </a:p>
          <a:p>
            <a:pPr>
              <a:lnSpc>
                <a:spcPct val="100000"/>
              </a:lnSpc>
              <a:spcBef>
                <a:spcPts val="0"/>
              </a:spcBef>
            </a:pP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Continued focus on Highland Recovery Center (HRC) service line with targeted outreach leveraging established contacts and expertise continues, awaiting expansion to 3.5 services.</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Focus on Adult accounts is a priority for BD team.</a:t>
            </a:r>
            <a:endParaRPr lang="en-US" sz="800">
              <a:latin typeface="Arial"/>
              <a:ea typeface="Times New Roman" panose="02020603050405020304" pitchFamily="18" charset="0"/>
              <a:cs typeface="Arial"/>
            </a:endParaRPr>
          </a:p>
          <a:p>
            <a:r>
              <a:rPr lang="en-US" sz="800" b="1">
                <a:solidFill>
                  <a:srgbClr val="000000"/>
                </a:solidFill>
                <a:latin typeface="Arial" panose="020B0604020202020204" pitchFamily="34" charset="0"/>
                <a:ea typeface="Times New Roman" panose="02020603050405020304" pitchFamily="18" charset="0"/>
                <a:cs typeface="Arial" panose="020B0604020202020204" pitchFamily="34" charset="0"/>
              </a:rPr>
              <a:t>Account Type</a:t>
            </a:r>
          </a:p>
          <a:p>
            <a:pPr marL="171450" indent="-171450">
              <a:buFont typeface="Arial" panose="020B0604020202020204" pitchFamily="34" charset="0"/>
              <a:buChar char="•"/>
            </a:pPr>
            <a:r>
              <a:rPr lang="en-US" sz="800"/>
              <a:t>Top 3:</a:t>
            </a:r>
            <a:r>
              <a:rPr lang="en-US" sz="800" b="1"/>
              <a:t> </a:t>
            </a:r>
            <a:r>
              <a:rPr lang="en-US" sz="800"/>
              <a:t>HER (332) -7 PM; Acute Psych (80) +8 PM; Mental Health Centers (18) -19 PM</a:t>
            </a:r>
          </a:p>
          <a:p>
            <a:pPr marL="171450" indent="-171450">
              <a:buFont typeface="Arial" panose="020B0604020202020204" pitchFamily="34" charset="0"/>
              <a:buChar char="•"/>
            </a:pPr>
            <a:r>
              <a:rPr lang="en-US" sz="800"/>
              <a:t>Bottom 3: PHP/IOP Providers (1) &lt;2&gt; PM; Physicians (1) &lt;3&gt; PM; Other RTC Providers (4) +3 PM</a:t>
            </a:r>
          </a:p>
          <a:p>
            <a:r>
              <a:rPr lang="en-US" sz="800">
                <a:solidFill>
                  <a:srgbClr val="000000"/>
                </a:solidFill>
                <a:latin typeface="Arial"/>
                <a:ea typeface="Times New Roman" panose="02020603050405020304" pitchFamily="18" charset="0"/>
                <a:cs typeface="Arial"/>
              </a:rPr>
              <a:t>• Focus on private providers and residential treatment centers have increased. </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a:t>
            </a:r>
            <a:endParaRPr lang="en-US" sz="800">
              <a:latin typeface="Arial"/>
              <a:ea typeface="Times New Roman" panose="02020603050405020304" pitchFamily="18" charset="0"/>
              <a:cs typeface="Arial"/>
            </a:endParaRPr>
          </a:p>
          <a:p>
            <a:r>
              <a:rPr lang="en-US" sz="800" b="1">
                <a:solidFill>
                  <a:srgbClr val="000000"/>
                </a:solidFill>
                <a:latin typeface="Arial" panose="020B0604020202020204" pitchFamily="34" charset="0"/>
                <a:ea typeface="Times New Roman" panose="02020603050405020304" pitchFamily="18" charset="0"/>
                <a:cs typeface="Arial" panose="020B0604020202020204" pitchFamily="34" charset="0"/>
              </a:rPr>
              <a:t>Account Type – v PM</a:t>
            </a:r>
          </a:p>
          <a:p>
            <a:pPr marL="171450" indent="-171450">
              <a:buFont typeface="Arial" panose="020B0604020202020204" pitchFamily="34" charset="0"/>
              <a:buChar char="•"/>
            </a:pPr>
            <a:r>
              <a:rPr lang="en-US" sz="800"/>
              <a:t>Declines were seen from CAMC W&amp;C &lt;3&gt;; Princeton Community Hospital &lt;5&gt;; Logan &lt;5&gt;; Davis &lt;6&gt;; and Help4WV &lt;2&gt;.</a:t>
            </a:r>
          </a:p>
          <a:p>
            <a:pPr marL="171450" indent="-171450">
              <a:buFont typeface="Arial" panose="020B0604020202020204" pitchFamily="34" charset="0"/>
              <a:buChar char="•"/>
            </a:pPr>
            <a:r>
              <a:rPr lang="en-US" sz="800"/>
              <a:t>Growth was seen from Bateman +4; CAMC General +18; Berkeley Medical Center +5; Grant +3; and Potomac +7.</a:t>
            </a:r>
          </a:p>
          <a:p>
            <a:r>
              <a:rPr lang="en-US" sz="800" b="1">
                <a:solidFill>
                  <a:srgbClr val="000000"/>
                </a:solidFill>
                <a:latin typeface="Arial"/>
                <a:ea typeface="Times New Roman" panose="02020603050405020304" pitchFamily="18" charset="0"/>
                <a:cs typeface="Arial"/>
              </a:rPr>
              <a:t>Other Areas Impacting Growth</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Rolling Spring break schedules continue across counties in WV (March 9–April 20). </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Daily bed availability email blasts continue, increasing to twice daily when census requires, including weekend distribution.</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Monthly service line marketing campaigns continue – April/May  focus on adult services.</a:t>
            </a:r>
          </a:p>
          <a:p>
            <a:r>
              <a:rPr lang="en-US" sz="800" b="1">
                <a:solidFill>
                  <a:srgbClr val="000000"/>
                </a:solidFill>
                <a:latin typeface="Arial"/>
                <a:ea typeface="Times New Roman" panose="02020603050405020304" pitchFamily="18" charset="0"/>
                <a:cs typeface="Arial"/>
              </a:rPr>
              <a:t>PMO / Strategic Focus</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BD team meets weekly with CEO to review strategy, initiatives, and expectations.</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Recovery Plan and Summer Break Plan developed and implemented.</a:t>
            </a:r>
          </a:p>
          <a:p>
            <a:endParaRPr lang="en-US" sz="80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a:lnSpc>
                <a:spcPct val="100000"/>
              </a:lnSpc>
              <a:spcBef>
                <a:spcPts val="0"/>
              </a:spcBef>
            </a:pPr>
            <a:r>
              <a:rPr lang="en-US" sz="800" b="1">
                <a:solidFill>
                  <a:srgbClr val="000000"/>
                </a:solidFill>
                <a:latin typeface="Arial"/>
                <a:ea typeface="Times New Roman" panose="02020603050405020304" pitchFamily="18" charset="0"/>
                <a:cs typeface="Arial"/>
              </a:rPr>
              <a:t>Marketing / Outreach</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Ongoing email blasts promoting service lines and bed availability- focus for April is adult services.</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Will have exhibit at WV Primary Care Association Conference in June to expand provider engagement statewide and School Summit in July.</a:t>
            </a:r>
          </a:p>
          <a:p>
            <a:pPr>
              <a:lnSpc>
                <a:spcPct val="100000"/>
              </a:lnSpc>
              <a:spcBef>
                <a:spcPts val="0"/>
              </a:spcBef>
            </a:pPr>
            <a:r>
              <a:rPr lang="en-US" sz="800">
                <a:solidFill>
                  <a:srgbClr val="000000"/>
                </a:solidFill>
                <a:latin typeface="Arial" panose="020B0604020202020204" pitchFamily="34" charset="0"/>
                <a:ea typeface="Times New Roman" panose="02020603050405020304" pitchFamily="18" charset="0"/>
                <a:cs typeface="Arial" panose="020B0604020202020204" pitchFamily="34" charset="0"/>
              </a:rPr>
              <a:t>• Held educational presentation with 30 providers of Family Care Health Centers April 1st providing increased awareness of Highland array of services and referral process</a:t>
            </a:r>
          </a:p>
          <a:p>
            <a:r>
              <a:rPr lang="en-US" sz="800" b="1">
                <a:solidFill>
                  <a:srgbClr val="000000"/>
                </a:solidFill>
                <a:latin typeface="Arial"/>
                <a:ea typeface="Times New Roman" panose="02020603050405020304" pitchFamily="18" charset="0"/>
                <a:cs typeface="Arial"/>
              </a:rPr>
              <a:t>New Business / Partnerships</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Evaluating opportunities to exhibit at additional conferences to expand outreach to primary care, behavioral health providers, and school-based health networks.</a:t>
            </a:r>
          </a:p>
          <a:p>
            <a:r>
              <a:rPr lang="en-US" sz="800" b="1">
                <a:solidFill>
                  <a:srgbClr val="000000"/>
                </a:solidFill>
                <a:latin typeface="Arial"/>
                <a:ea typeface="Times New Roman" panose="02020603050405020304" pitchFamily="18" charset="0"/>
                <a:cs typeface="Arial"/>
              </a:rPr>
              <a:t>Major Events / Conferences</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Share the Vision (WV First Foundation/Community Connections) April 14-16, Huntington, WV</a:t>
            </a:r>
            <a:br>
              <a:rPr lang="en-US" sz="800">
                <a:latin typeface="Arial" panose="020B0604020202020204" pitchFamily="34" charset="0"/>
                <a:ea typeface="Times New Roman" panose="02020603050405020304" pitchFamily="18" charset="0"/>
                <a:cs typeface="Arial" panose="020B0604020202020204" pitchFamily="34" charset="0"/>
              </a:rPr>
            </a:br>
            <a:r>
              <a:rPr lang="en-US" sz="800">
                <a:solidFill>
                  <a:srgbClr val="000000"/>
                </a:solidFill>
                <a:latin typeface="Arial"/>
                <a:ea typeface="Times New Roman" panose="02020603050405020304" pitchFamily="18" charset="0"/>
                <a:cs typeface="Arial"/>
              </a:rPr>
              <a:t>• WV Licensed Professional Counselors Association Conference, April 16-17, Stonewall Jackson, Roanoke, WV </a:t>
            </a:r>
          </a:p>
          <a:p>
            <a:pPr marL="171450" indent="-171450">
              <a:buFont typeface="Wingdings" panose="05000000000000000000" pitchFamily="2" charset="2"/>
              <a:buChar char="Ø"/>
            </a:pPr>
            <a:r>
              <a:rPr lang="en-US" sz="800">
                <a:solidFill>
                  <a:srgbClr val="000000"/>
                </a:solidFill>
                <a:latin typeface="Arial" panose="020B0604020202020204" pitchFamily="34" charset="0"/>
                <a:ea typeface="Times New Roman" panose="02020603050405020304" pitchFamily="18" charset="0"/>
                <a:cs typeface="Arial" panose="020B0604020202020204" pitchFamily="34" charset="0"/>
              </a:rPr>
              <a:t>Negotiations continuing for addition of 3.5 services in HRC.</a:t>
            </a:r>
            <a:endParaRPr lang="en-US" sz="800">
              <a:latin typeface="Arial"/>
              <a:cs typeface="Arial"/>
            </a:endParaRPr>
          </a:p>
          <a:p>
            <a:pPr>
              <a:lnSpc>
                <a:spcPct val="100000"/>
              </a:lnSpc>
              <a:spcBef>
                <a:spcPts val="0"/>
              </a:spcBef>
            </a:pPr>
            <a:endParaRPr lang="en-US" sz="900">
              <a:latin typeface="Arial"/>
              <a:ea typeface="Calibri"/>
              <a:cs typeface="Calibri"/>
            </a:endParaRPr>
          </a:p>
        </p:txBody>
      </p:sp>
      <p:sp>
        <p:nvSpPr>
          <p:cNvPr id="4" name="Slide Number Placeholder 3">
            <a:extLst>
              <a:ext uri="{FF2B5EF4-FFF2-40B4-BE49-F238E27FC236}">
                <a16:creationId xmlns:a16="http://schemas.microsoft.com/office/drawing/2014/main" id="{8CE25E3F-DD45-9E92-86F5-F5024C005F39}"/>
              </a:ext>
            </a:extLst>
          </p:cNvPr>
          <p:cNvSpPr>
            <a:spLocks noGrp="1"/>
          </p:cNvSpPr>
          <p:nvPr>
            <p:ph type="sldNum" sz="quarter" idx="12"/>
          </p:nvPr>
        </p:nvSpPr>
        <p:spPr/>
        <p:txBody>
          <a:bodyPr/>
          <a:lstStyle/>
          <a:p>
            <a:fld id="{5E60824B-427F-0546-8E63-CCBFBFE2F314}" type="slidenum">
              <a:rPr lang="en-US" smtClean="0"/>
              <a:pPr/>
              <a:t>18</a:t>
            </a:fld>
            <a:endParaRPr lang="en-US"/>
          </a:p>
        </p:txBody>
      </p:sp>
    </p:spTree>
    <p:extLst>
      <p:ext uri="{BB962C8B-B14F-4D97-AF65-F5344CB8AC3E}">
        <p14:creationId xmlns:p14="http://schemas.microsoft.com/office/powerpoint/2010/main" val="38814485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yU362Ag1QT25mayaqZyliQ"/>
</p:tagLst>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e9e505b-c626-4c63-a833-1d637d24bc5f">
      <Terms xmlns="http://schemas.microsoft.com/office/infopath/2007/PartnerControls"/>
    </lcf76f155ced4ddcb4097134ff3c332f>
    <TaxCatchAll xmlns="c4a14aed-1b48-44ca-bcee-e228903df3b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1A04FB193DE0848B1FA5AA46B1D32B4" ma:contentTypeVersion="12" ma:contentTypeDescription="Create a new document." ma:contentTypeScope="" ma:versionID="f40a2cde29b3109d9f221ed6686ecb55">
  <xsd:schema xmlns:xsd="http://www.w3.org/2001/XMLSchema" xmlns:xs="http://www.w3.org/2001/XMLSchema" xmlns:p="http://schemas.microsoft.com/office/2006/metadata/properties" xmlns:ns2="8e9e505b-c626-4c63-a833-1d637d24bc5f" xmlns:ns3="c4a14aed-1b48-44ca-bcee-e228903df3bd" targetNamespace="http://schemas.microsoft.com/office/2006/metadata/properties" ma:root="true" ma:fieldsID="1d2b842a80c8b5ca58da75671bbf8825" ns2:_="" ns3:_="">
    <xsd:import namespace="8e9e505b-c626-4c63-a833-1d637d24bc5f"/>
    <xsd:import namespace="c4a14aed-1b48-44ca-bcee-e228903df3b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9e505b-c626-4c63-a833-1d637d24bc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fieldId="{5cf76f15-5ced-4ddc-b409-7134ff3c332f}" ma:taxonomyMulti="true" ma:sspId="00000000-0000-0000-0000-000000000000" ma:termSetId="00000000-0000-0000-0000-000000000000" ma:anchorId="00000000-0000-0000-0000-000000000000" ma:open="fals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4a14aed-1b48-44ca-bcee-e228903df3b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7cfde75-1408-418b-bc36-b62c8f18f64d}" ma:internalName="TaxCatchAll" ma:showField="CatchAllData" ma:web="c4a14aed-1b48-44ca-bcee-e228903df3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32DEBB-0663-4290-BA48-2D962B5C6157}">
  <ds:schemaRefs>
    <ds:schemaRef ds:uri="http://www.w3.org/XML/1998/namespace"/>
    <ds:schemaRef ds:uri="http://purl.org/dc/terms/"/>
    <ds:schemaRef ds:uri="http://schemas.microsoft.com/office/2006/documentManagement/types"/>
    <ds:schemaRef ds:uri="8e9e505b-c626-4c63-a833-1d637d24bc5f"/>
    <ds:schemaRef ds:uri="http://schemas.microsoft.com/office/2006/metadata/properties"/>
    <ds:schemaRef ds:uri="c4a14aed-1b48-44ca-bcee-e228903df3bd"/>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DAC7F7FC-E3D8-4B51-B584-C04227B2A317}">
  <ds:schemaRefs>
    <ds:schemaRef ds:uri="8e9e505b-c626-4c63-a833-1d637d24bc5f"/>
    <ds:schemaRef ds:uri="c4a14aed-1b48-44ca-bcee-e228903df3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E72EB2C-F76F-41A4-9ED6-FB57BFA72D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3368</Words>
  <Application>Microsoft Office PowerPoint</Application>
  <PresentationFormat>On-screen Show (4:3)</PresentationFormat>
  <Paragraphs>1030</Paragraphs>
  <Slides>18</Slides>
  <Notes>13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Aptos</vt:lpstr>
      <vt:lpstr>Arial</vt:lpstr>
      <vt:lpstr>Calibri</vt:lpstr>
      <vt:lpstr>Calibri Light</vt:lpstr>
      <vt:lpstr>Wingdings</vt:lpstr>
      <vt:lpstr>Office 2013 - 2022 Theme</vt:lpstr>
      <vt:lpstr>think-cell Slide</vt:lpstr>
      <vt:lpstr>Month End Results – Highland Hospital</vt:lpstr>
      <vt:lpstr>April 2026 – Quality Dashboard – Highland</vt:lpstr>
      <vt:lpstr>April 2026 – Quality Dashboard – Highland</vt:lpstr>
      <vt:lpstr>April 2026 – Quality Dashboard – Highland</vt:lpstr>
      <vt:lpstr>April 2026 – Quality Dashboard – Highland</vt:lpstr>
      <vt:lpstr>April 2026 – Overview – Highland</vt:lpstr>
      <vt:lpstr>April 2026 – Volume – Highland</vt:lpstr>
      <vt:lpstr>April 2026 – Volume – Highland</vt:lpstr>
      <vt:lpstr>April 2026 – Volume – Highland</vt:lpstr>
      <vt:lpstr>April 2026 – Net Revenue – Highland</vt:lpstr>
      <vt:lpstr>April 2026 – Net Revenue – Highland</vt:lpstr>
      <vt:lpstr>April 2026 – Expense – Highland</vt:lpstr>
      <vt:lpstr>April 2026 – Expense – Highland</vt:lpstr>
      <vt:lpstr>April 2026 – Human Resources – Highland</vt:lpstr>
      <vt:lpstr>April 2026 – Business Development – Highland Hospital</vt:lpstr>
      <vt:lpstr>April 2026 – Business Development – Highland Hospital</vt:lpstr>
      <vt:lpstr>April 2026 – Business Development – Highland Hospital</vt:lpstr>
      <vt:lpstr> April 2026 – Business Development – Highland Hospital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Charles Steiner</dc:creator>
  <cp:lastModifiedBy>Gene Preston</cp:lastModifiedBy>
  <cp:revision>2</cp:revision>
  <cp:lastPrinted>2025-12-10T13:58:25Z</cp:lastPrinted>
  <dcterms:created xsi:type="dcterms:W3CDTF">2023-03-27T15:00:04Z</dcterms:created>
  <dcterms:modified xsi:type="dcterms:W3CDTF">2026-05-18T20:19:55Z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0x01010071A04FB193DE0848B1FA5AA46B1D32B4</vt:lpwstr>
  </property>
  <property fmtid="{D5CDD505-2E9C-101B-9397-08002B2CF9AE}" pid="3" name="MediaServiceImageTags">
    <vt:lpwstr/>
  </property>
</Properties>
</file>